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6" r:id="rId5"/>
  </p:sldIdLst>
  <p:sldSz cx="7772400" cy="10058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756"/>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224" y="16"/>
      </p:cViewPr>
      <p:guideLst>
        <p:guide orient="horz" pos="2880"/>
        <p:guide pos="219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er tt" userId="9ccdfb755bc8bdd7" providerId="LiveId" clId="{76015E52-4C55-49B1-9312-81A0F27AFA3C}"/>
    <pc:docChg chg="custSel modSld">
      <pc:chgData name="tiger tt" userId="9ccdfb755bc8bdd7" providerId="LiveId" clId="{76015E52-4C55-49B1-9312-81A0F27AFA3C}" dt="2025-05-19T09:20:57.453" v="6" actId="1076"/>
      <pc:docMkLst>
        <pc:docMk/>
      </pc:docMkLst>
      <pc:sldChg chg="modSp mod">
        <pc:chgData name="tiger tt" userId="9ccdfb755bc8bdd7" providerId="LiveId" clId="{76015E52-4C55-49B1-9312-81A0F27AFA3C}" dt="2025-05-19T09:20:57.453" v="6" actId="1076"/>
        <pc:sldMkLst>
          <pc:docMk/>
          <pc:sldMk cId="0" sldId="256"/>
        </pc:sldMkLst>
        <pc:spChg chg="mod">
          <ac:chgData name="tiger tt" userId="9ccdfb755bc8bdd7" providerId="LiveId" clId="{76015E52-4C55-49B1-9312-81A0F27AFA3C}" dt="2025-05-19T09:20:57.453" v="6" actId="1076"/>
          <ac:spMkLst>
            <pc:docMk/>
            <pc:sldMk cId="0" sldId="256"/>
            <ac:spMk id="2" creationId="{00000000-0000-0000-0000-000000000000}"/>
          </ac:spMkLst>
        </pc:spChg>
      </pc:sldChg>
      <pc:sldChg chg="delSp modSp mod">
        <pc:chgData name="tiger tt" userId="9ccdfb755bc8bdd7" providerId="LiveId" clId="{76015E52-4C55-49B1-9312-81A0F27AFA3C}" dt="2025-05-19T06:46:49.729" v="5" actId="1036"/>
        <pc:sldMkLst>
          <pc:docMk/>
          <pc:sldMk cId="0" sldId="261"/>
        </pc:sldMkLst>
        <pc:spChg chg="mod">
          <ac:chgData name="tiger tt" userId="9ccdfb755bc8bdd7" providerId="LiveId" clId="{76015E52-4C55-49B1-9312-81A0F27AFA3C}" dt="2025-05-19T06:46:49.729" v="5" actId="1036"/>
          <ac:spMkLst>
            <pc:docMk/>
            <pc:sldMk cId="0" sldId="261"/>
            <ac:spMk id="22" creationId="{83DB9AD5-E97C-8483-B613-1888EED03250}"/>
          </ac:spMkLst>
        </pc:spChg>
        <pc:spChg chg="del">
          <ac:chgData name="tiger tt" userId="9ccdfb755bc8bdd7" providerId="LiveId" clId="{76015E52-4C55-49B1-9312-81A0F27AFA3C}" dt="2025-05-19T06:46:38.723" v="0" actId="478"/>
          <ac:spMkLst>
            <pc:docMk/>
            <pc:sldMk cId="0" sldId="261"/>
            <ac:spMk id="23" creationId="{50FEC723-93DB-1565-CF05-1451C92DCD8C}"/>
          </ac:spMkLst>
        </pc:spChg>
        <pc:spChg chg="mod">
          <ac:chgData name="tiger tt" userId="9ccdfb755bc8bdd7" providerId="LiveId" clId="{76015E52-4C55-49B1-9312-81A0F27AFA3C}" dt="2025-05-19T06:46:49.729" v="5" actId="1036"/>
          <ac:spMkLst>
            <pc:docMk/>
            <pc:sldMk cId="0" sldId="261"/>
            <ac:spMk id="24" creationId="{81BF8902-EDA4-CBBA-1575-ABCCED326E87}"/>
          </ac:spMkLst>
        </pc:spChg>
        <pc:spChg chg="mod">
          <ac:chgData name="tiger tt" userId="9ccdfb755bc8bdd7" providerId="LiveId" clId="{76015E52-4C55-49B1-9312-81A0F27AFA3C}" dt="2025-05-19T06:46:49.729" v="5" actId="1036"/>
          <ac:spMkLst>
            <pc:docMk/>
            <pc:sldMk cId="0" sldId="261"/>
            <ac:spMk id="25" creationId="{0C4D5BD8-28A6-1E98-8A2C-695DCC68E417}"/>
          </ac:spMkLst>
        </pc:spChg>
        <pc:spChg chg="mod">
          <ac:chgData name="tiger tt" userId="9ccdfb755bc8bdd7" providerId="LiveId" clId="{76015E52-4C55-49B1-9312-81A0F27AFA3C}" dt="2025-05-19T06:46:49.729" v="5" actId="1036"/>
          <ac:spMkLst>
            <pc:docMk/>
            <pc:sldMk cId="0" sldId="261"/>
            <ac:spMk id="26" creationId="{888172CB-A7FD-3099-B076-99B8F76C9E72}"/>
          </ac:spMkLst>
        </pc:spChg>
        <pc:spChg chg="mod">
          <ac:chgData name="tiger tt" userId="9ccdfb755bc8bdd7" providerId="LiveId" clId="{76015E52-4C55-49B1-9312-81A0F27AFA3C}" dt="2025-05-19T06:46:49.729" v="5" actId="1036"/>
          <ac:spMkLst>
            <pc:docMk/>
            <pc:sldMk cId="0" sldId="261"/>
            <ac:spMk id="28" creationId="{DBC3398D-ED68-12B6-7421-D528129DA732}"/>
          </ac:spMkLst>
        </pc:spChg>
      </pc:sldChg>
    </pc:docChg>
  </pc:docChgLst>
  <pc:docChgLst>
    <pc:chgData name="tiger tt" userId="9ccdfb755bc8bdd7" providerId="LiveId" clId="{FB2F748A-AF94-4A5D-A164-8681840452F7}"/>
    <pc:docChg chg="undo custSel modSld">
      <pc:chgData name="tiger tt" userId="9ccdfb755bc8bdd7" providerId="LiveId" clId="{FB2F748A-AF94-4A5D-A164-8681840452F7}" dt="2022-05-31T03:01:03.309" v="5" actId="20577"/>
      <pc:docMkLst>
        <pc:docMk/>
      </pc:docMkLst>
      <pc:sldChg chg="modSp mod">
        <pc:chgData name="tiger tt" userId="9ccdfb755bc8bdd7" providerId="LiveId" clId="{FB2F748A-AF94-4A5D-A164-8681840452F7}" dt="2022-05-31T03:01:03.309" v="5" actId="20577"/>
        <pc:sldMkLst>
          <pc:docMk/>
          <pc:sldMk cId="0"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p:txBody>
          <a:bodyPr lIns="0" tIns="0" rIns="0" bIns="0"/>
          <a:lstStyle>
            <a:lvl1pPr>
              <a:defRPr sz="900" b="0" i="0">
                <a:solidFill>
                  <a:srgbClr val="948980"/>
                </a:solidFill>
                <a:latin typeface="微软雅黑 Light" panose="020B0502040204020203" charset="-122"/>
                <a:cs typeface="微软雅黑 Light" panose="020B0502040204020203" charset="-122"/>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4774387"/>
            <a:ext cx="7772400" cy="5284012"/>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39113" y="885825"/>
            <a:ext cx="6680834" cy="0"/>
          </a:xfrm>
          <a:custGeom>
            <a:avLst/>
            <a:gdLst/>
            <a:ahLst/>
            <a:cxnLst/>
            <a:rect l="l" t="t" r="r" b="b"/>
            <a:pathLst>
              <a:path w="6680834">
                <a:moveTo>
                  <a:pt x="0" y="0"/>
                </a:moveTo>
                <a:lnTo>
                  <a:pt x="6680835" y="1"/>
                </a:lnTo>
              </a:path>
            </a:pathLst>
          </a:custGeom>
          <a:ln w="6350">
            <a:solidFill>
              <a:srgbClr val="948980"/>
            </a:solidFill>
          </a:ln>
        </p:spPr>
        <p:txBody>
          <a:bodyPr wrap="square" lIns="0" tIns="0" rIns="0" bIns="0" rtlCol="0"/>
          <a:lstStyle/>
          <a:p>
            <a:endParaRPr/>
          </a:p>
        </p:txBody>
      </p:sp>
      <p:sp>
        <p:nvSpPr>
          <p:cNvPr id="2" name="Holder 2"/>
          <p:cNvSpPr>
            <a:spLocks noGrp="1"/>
          </p:cNvSpPr>
          <p:nvPr>
            <p:ph type="title"/>
          </p:nvPr>
        </p:nvSpPr>
        <p:spPr>
          <a:xfrm>
            <a:off x="526795" y="1328419"/>
            <a:ext cx="6718808" cy="391160"/>
          </a:xfrm>
          <a:prstGeom prst="rect">
            <a:avLst/>
          </a:prstGeom>
        </p:spPr>
        <p:txBody>
          <a:bodyPr wrap="square" lIns="0" tIns="0" rIns="0" bIns="0">
            <a:spAutoFit/>
          </a:bodyPr>
          <a:lstStyle>
            <a:lvl1pPr>
              <a:defRPr sz="2400" b="0" i="0">
                <a:solidFill>
                  <a:srgbClr val="F04C35"/>
                </a:solidFill>
                <a:latin typeface="微软雅黑" panose="020B0503020204020204" charset="-122"/>
                <a:cs typeface="微软雅黑" panose="020B0503020204020204" charset="-122"/>
              </a:defRPr>
            </a:lvl1pPr>
          </a:lstStyle>
          <a:p>
            <a:endParaRPr/>
          </a:p>
        </p:txBody>
      </p:sp>
      <p:sp>
        <p:nvSpPr>
          <p:cNvPr id="3" name="Holder 3"/>
          <p:cNvSpPr>
            <a:spLocks noGrp="1"/>
          </p:cNvSpPr>
          <p:nvPr>
            <p:ph type="body" idx="1"/>
          </p:nvPr>
        </p:nvSpPr>
        <p:spPr>
          <a:xfrm>
            <a:off x="407924" y="2735376"/>
            <a:ext cx="6956551" cy="2439670"/>
          </a:xfrm>
          <a:prstGeom prst="rect">
            <a:avLst/>
          </a:prstGeom>
        </p:spPr>
        <p:txBody>
          <a:bodyPr wrap="square" lIns="0" tIns="0" rIns="0" bIns="0">
            <a:spAutoFit/>
          </a:bodyPr>
          <a:lstStyle>
            <a:lvl1pPr>
              <a:defRPr sz="900" b="0" i="0">
                <a:solidFill>
                  <a:srgbClr val="948980"/>
                </a:solidFill>
                <a:latin typeface="微软雅黑 Light" panose="020B0502040204020203" charset="-122"/>
                <a:cs typeface="微软雅黑 Light" panose="020B0502040204020203" charset="-122"/>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5/11/2026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667000"/>
            <a:ext cx="4552950" cy="1310640"/>
          </a:xfrm>
          <a:prstGeom prst="rect">
            <a:avLst/>
          </a:prstGeom>
        </p:spPr>
        <p:txBody>
          <a:bodyPr vert="horz" wrap="square" lIns="0" tIns="45720" rIns="0" bIns="0" rtlCol="0">
            <a:spAutoFit/>
          </a:bodyPr>
          <a:lstStyle/>
          <a:p>
            <a:pPr marL="12700">
              <a:lnSpc>
                <a:spcPct val="100000"/>
              </a:lnSpc>
              <a:spcBef>
                <a:spcPts val="360"/>
              </a:spcBef>
            </a:pPr>
            <a:r>
              <a:rPr sz="6000" spc="82" baseline="3000" dirty="0">
                <a:solidFill>
                  <a:srgbClr val="B68756"/>
                </a:solidFill>
                <a:latin typeface="苹方 常规" panose="020B0300000000000000" charset="-122"/>
                <a:ea typeface="苹方 常规" panose="020B0300000000000000" charset="-122"/>
                <a:cs typeface="苹方 常规" panose="020B0300000000000000" charset="-122"/>
              </a:rPr>
              <a:t>IEXS</a:t>
            </a:r>
            <a:r>
              <a:rPr sz="6000" spc="555" baseline="3000" dirty="0">
                <a:solidFill>
                  <a:srgbClr val="B68756"/>
                </a:solidFill>
                <a:latin typeface="苹方 常规" panose="020B0300000000000000" charset="-122"/>
                <a:ea typeface="苹方 常规" panose="020B0300000000000000" charset="-122"/>
                <a:cs typeface="苹方 常规" panose="020B0300000000000000" charset="-122"/>
              </a:rPr>
              <a:t> </a:t>
            </a:r>
            <a:r>
              <a:rPr sz="4000" spc="75" dirty="0">
                <a:solidFill>
                  <a:srgbClr val="B68756"/>
                </a:solidFill>
                <a:latin typeface="苹方 常规" panose="020B0300000000000000" charset="-122"/>
                <a:ea typeface="苹方 常规" panose="020B0300000000000000" charset="-122"/>
                <a:cs typeface="苹方 常规" panose="020B0300000000000000" charset="-122"/>
              </a:rPr>
              <a:t>複利獎賞計劃</a:t>
            </a:r>
            <a:endParaRPr sz="4000" dirty="0">
              <a:solidFill>
                <a:srgbClr val="B68756"/>
              </a:solidFill>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265"/>
              </a:spcBef>
            </a:pPr>
            <a:r>
              <a:rPr sz="4000" spc="55" dirty="0">
                <a:solidFill>
                  <a:srgbClr val="B68756"/>
                </a:solidFill>
                <a:latin typeface="苹方 常规" panose="020B0300000000000000" charset="-122"/>
                <a:ea typeface="苹方 常规" panose="020B0300000000000000" charset="-122"/>
                <a:cs typeface="苹方 常规" panose="020B0300000000000000" charset="-122"/>
              </a:rPr>
              <a:t>IEXS</a:t>
            </a:r>
            <a:r>
              <a:rPr sz="4000" spc="150" dirty="0">
                <a:solidFill>
                  <a:srgbClr val="B68756"/>
                </a:solidFill>
                <a:latin typeface="苹方 常规" panose="020B0300000000000000" charset="-122"/>
                <a:ea typeface="苹方 常规" panose="020B0300000000000000" charset="-122"/>
                <a:cs typeface="苹方 常规" panose="020B0300000000000000" charset="-122"/>
              </a:rPr>
              <a:t> </a:t>
            </a:r>
            <a:r>
              <a:rPr sz="4000" spc="60" dirty="0">
                <a:solidFill>
                  <a:srgbClr val="B68756"/>
                </a:solidFill>
                <a:latin typeface="苹方 常规" panose="020B0300000000000000" charset="-122"/>
                <a:ea typeface="苹方 常规" panose="020B0300000000000000" charset="-122"/>
                <a:cs typeface="苹方 常规" panose="020B0300000000000000" charset="-122"/>
              </a:rPr>
              <a:t>EXTRA</a:t>
            </a:r>
            <a:endParaRPr sz="4000" dirty="0">
              <a:solidFill>
                <a:srgbClr val="B68756"/>
              </a:solidFill>
              <a:latin typeface="苹方 常规" panose="020B0300000000000000" charset="-122"/>
              <a:ea typeface="苹方 常规" panose="020B0300000000000000" charset="-122"/>
              <a:cs typeface="苹方 常规" panose="020B0300000000000000" charset="-122"/>
            </a:endParaRPr>
          </a:p>
        </p:txBody>
      </p:sp>
      <p:pic>
        <p:nvPicPr>
          <p:cNvPr id="4" name="图片 3" descr="图标&#10;&#10;中度可信度描述已自动生成">
            <a:extLst>
              <a:ext uri="{FF2B5EF4-FFF2-40B4-BE49-F238E27FC236}">
                <a16:creationId xmlns:a16="http://schemas.microsoft.com/office/drawing/2014/main" id="{4687AC6E-F89F-2D5A-5742-0A5847D678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799" y="685800"/>
            <a:ext cx="1694469"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7050" y="1367790"/>
            <a:ext cx="4793615" cy="381635"/>
          </a:xfrm>
          <a:prstGeom prst="rect">
            <a:avLst/>
          </a:prstGeom>
        </p:spPr>
        <p:txBody>
          <a:bodyPr vert="horz" wrap="square" lIns="0" tIns="12700" rIns="0" bIns="0" rtlCol="0">
            <a:spAutoFit/>
          </a:bodyPr>
          <a:lstStyle/>
          <a:p>
            <a:pPr marL="12700">
              <a:lnSpc>
                <a:spcPct val="100000"/>
              </a:lnSpc>
              <a:spcBef>
                <a:spcPts val="100"/>
              </a:spcBef>
            </a:pPr>
            <a:r>
              <a:rPr spc="30" dirty="0">
                <a:solidFill>
                  <a:srgbClr val="B68756"/>
                </a:solidFill>
                <a:latin typeface="苹方 常规" panose="020B0300000000000000" charset="-122"/>
                <a:ea typeface="苹方 常规" panose="020B0300000000000000" charset="-122"/>
                <a:cs typeface="苹方 常规" panose="020B0300000000000000" charset="-122"/>
              </a:rPr>
              <a:t>IEXS</a:t>
            </a:r>
            <a:r>
              <a:rPr spc="55" dirty="0">
                <a:solidFill>
                  <a:srgbClr val="B68756"/>
                </a:solidFill>
                <a:latin typeface="苹方 常规" panose="020B0300000000000000" charset="-122"/>
                <a:ea typeface="苹方 常规" panose="020B0300000000000000" charset="-122"/>
                <a:cs typeface="苹方 常规" panose="020B0300000000000000" charset="-122"/>
              </a:rPr>
              <a:t> </a:t>
            </a:r>
            <a:r>
              <a:rPr spc="40" dirty="0">
                <a:solidFill>
                  <a:srgbClr val="B68756"/>
                </a:solidFill>
                <a:latin typeface="苹方 常规" panose="020B0300000000000000" charset="-122"/>
                <a:ea typeface="苹方 常规" panose="020B0300000000000000" charset="-122"/>
                <a:cs typeface="苹方 常规" panose="020B0300000000000000" charset="-122"/>
              </a:rPr>
              <a:t>複利獎賞計</a:t>
            </a:r>
            <a:r>
              <a:rPr dirty="0">
                <a:solidFill>
                  <a:srgbClr val="B68756"/>
                </a:solidFill>
                <a:latin typeface="苹方 常规" panose="020B0300000000000000" charset="-122"/>
                <a:ea typeface="苹方 常规" panose="020B0300000000000000" charset="-122"/>
                <a:cs typeface="苹方 常规" panose="020B0300000000000000" charset="-122"/>
              </a:rPr>
              <a:t>劃</a:t>
            </a:r>
            <a:r>
              <a:rPr spc="65" dirty="0">
                <a:solidFill>
                  <a:srgbClr val="B68756"/>
                </a:solidFill>
                <a:latin typeface="苹方 常规" panose="020B0300000000000000" charset="-122"/>
                <a:ea typeface="苹方 常规" panose="020B0300000000000000" charset="-122"/>
                <a:cs typeface="苹方 常规" panose="020B0300000000000000" charset="-122"/>
              </a:rPr>
              <a:t> </a:t>
            </a:r>
            <a:r>
              <a:rPr dirty="0">
                <a:solidFill>
                  <a:srgbClr val="B68756"/>
                </a:solidFill>
                <a:latin typeface="苹方 常规" panose="020B0300000000000000" charset="-122"/>
                <a:ea typeface="苹方 常规" panose="020B0300000000000000" charset="-122"/>
                <a:cs typeface="苹方 常规" panose="020B0300000000000000" charset="-122"/>
              </a:rPr>
              <a:t>-</a:t>
            </a:r>
            <a:r>
              <a:rPr spc="65" dirty="0">
                <a:solidFill>
                  <a:srgbClr val="B68756"/>
                </a:solidFill>
                <a:latin typeface="苹方 常规" panose="020B0300000000000000" charset="-122"/>
                <a:ea typeface="苹方 常规" panose="020B0300000000000000" charset="-122"/>
                <a:cs typeface="苹方 常规" panose="020B0300000000000000" charset="-122"/>
              </a:rPr>
              <a:t> </a:t>
            </a:r>
            <a:r>
              <a:rPr spc="40" dirty="0">
                <a:solidFill>
                  <a:srgbClr val="B68756"/>
                </a:solidFill>
                <a:latin typeface="苹方 常规" panose="020B0300000000000000" charset="-122"/>
                <a:ea typeface="苹方 常规" panose="020B0300000000000000" charset="-122"/>
                <a:cs typeface="苹方 常规" panose="020B0300000000000000" charset="-122"/>
              </a:rPr>
              <a:t>不止於交易</a:t>
            </a:r>
          </a:p>
        </p:txBody>
      </p:sp>
      <p:sp>
        <p:nvSpPr>
          <p:cNvPr id="3" name="object 3"/>
          <p:cNvSpPr txBox="1">
            <a:spLocks noGrp="1"/>
          </p:cNvSpPr>
          <p:nvPr>
            <p:ph type="body" idx="1"/>
          </p:nvPr>
        </p:nvSpPr>
        <p:spPr>
          <a:xfrm>
            <a:off x="407924" y="2735376"/>
            <a:ext cx="6828537" cy="2439670"/>
          </a:xfrm>
          <a:prstGeom prst="rect">
            <a:avLst/>
          </a:prstGeom>
        </p:spPr>
        <p:txBody>
          <a:bodyPr vert="horz" wrap="square" lIns="0" tIns="12700" rIns="0" bIns="0" rtlCol="0">
            <a:spAutoFit/>
          </a:bodyPr>
          <a:lstStyle/>
          <a:p>
            <a:pPr marL="131445" marR="5080">
              <a:lnSpc>
                <a:spcPct val="144000"/>
              </a:lnSpc>
              <a:spcBef>
                <a:spcPts val="100"/>
              </a:spcBef>
            </a:pPr>
            <a:r>
              <a:rPr spc="40" dirty="0">
                <a:latin typeface="苹方 常规" panose="020B0300000000000000" charset="-122"/>
                <a:ea typeface="苹方 常规" panose="020B0300000000000000" charset="-122"/>
                <a:cs typeface="苹方 常规" panose="020B0300000000000000" charset="-122"/>
              </a:rPr>
              <a:t>一直以來客戶的資金增長都是我們非常重視的，務求為客戶達到最大利益效果</a:t>
            </a:r>
            <a:r>
              <a:rPr spc="10" dirty="0">
                <a:latin typeface="苹方 常规" panose="020B0300000000000000" charset="-122"/>
                <a:ea typeface="苹方 常规" panose="020B0300000000000000" charset="-122"/>
                <a:cs typeface="苹方 常规" panose="020B0300000000000000" charset="-122"/>
              </a:rPr>
              <a:t>。</a:t>
            </a:r>
            <a:r>
              <a:rPr spc="185" dirty="0">
                <a:latin typeface="苹方 常规" panose="020B0300000000000000" charset="-122"/>
                <a:ea typeface="苹方 常规" panose="020B0300000000000000" charset="-122"/>
                <a:cs typeface="苹方 常规" panose="020B0300000000000000" charset="-122"/>
              </a:rPr>
              <a:t> </a:t>
            </a:r>
            <a:r>
              <a:rPr spc="35" dirty="0">
                <a:latin typeface="苹方 常规" panose="020B0300000000000000" charset="-122"/>
                <a:ea typeface="苹方 常规" panose="020B0300000000000000" charset="-122"/>
                <a:cs typeface="苹方 常规" panose="020B0300000000000000" charset="-122"/>
              </a:rPr>
              <a:t>“EXTRA”</a:t>
            </a:r>
            <a:r>
              <a:rPr spc="195" dirty="0">
                <a:latin typeface="苹方 常规" panose="020B0300000000000000" charset="-122"/>
                <a:ea typeface="苹方 常规" panose="020B0300000000000000" charset="-122"/>
                <a:cs typeface="苹方 常规" panose="020B0300000000000000" charset="-122"/>
              </a:rPr>
              <a:t> </a:t>
            </a:r>
            <a:r>
              <a:rPr spc="5" dirty="0">
                <a:latin typeface="苹方 常规" panose="020B0300000000000000" charset="-122"/>
                <a:ea typeface="苹方 常规" panose="020B0300000000000000" charset="-122"/>
                <a:cs typeface="苹方 常规" panose="020B0300000000000000" charset="-122"/>
              </a:rPr>
              <a:t>–</a:t>
            </a:r>
            <a:r>
              <a:rPr spc="195" dirty="0">
                <a:latin typeface="苹方 常规" panose="020B0300000000000000" charset="-122"/>
                <a:ea typeface="苹方 常规" panose="020B0300000000000000" charset="-122"/>
                <a:cs typeface="苹方 常规" panose="020B0300000000000000" charset="-122"/>
              </a:rPr>
              <a:t> </a:t>
            </a:r>
            <a:r>
              <a:rPr spc="40" dirty="0" err="1">
                <a:latin typeface="苹方 常规" panose="020B0300000000000000" charset="-122"/>
                <a:ea typeface="苹方 常规" panose="020B0300000000000000" charset="-122"/>
                <a:cs typeface="苹方 常规" panose="020B0300000000000000" charset="-122"/>
              </a:rPr>
              <a:t>我們努力堅信一份額外的關注可</a:t>
            </a:r>
            <a:r>
              <a:rPr lang="zh-CN" altLang="en-US" spc="40" dirty="0">
                <a:latin typeface="苹方 常规" panose="020B0300000000000000" charset="-122"/>
                <a:ea typeface="苹方 常规" panose="020B0300000000000000" charset="-122"/>
                <a:cs typeface="苹方 常规" panose="020B0300000000000000" charset="-122"/>
              </a:rPr>
              <a:t>以</a:t>
            </a:r>
            <a:r>
              <a:rPr spc="40" dirty="0" err="1">
                <a:latin typeface="苹方 常规" panose="020B0300000000000000" charset="-122"/>
                <a:ea typeface="苹方 常规" panose="020B0300000000000000" charset="-122"/>
                <a:cs typeface="苹方 常规" panose="020B0300000000000000" charset="-122"/>
              </a:rPr>
              <a:t>配合我們在專業與完善的服務之上“額外”地爲您提供更有效的增值優勢</a:t>
            </a:r>
            <a:r>
              <a:rPr spc="10" dirty="0">
                <a:latin typeface="苹方 常规" panose="020B0300000000000000" charset="-122"/>
                <a:ea typeface="苹方 常规" panose="020B0300000000000000" charset="-122"/>
                <a:cs typeface="苹方 常规" panose="020B0300000000000000" charset="-122"/>
              </a:rPr>
              <a:t>。</a:t>
            </a:r>
            <a:r>
              <a:rPr spc="175" dirty="0">
                <a:latin typeface="苹方 常规" panose="020B0300000000000000" charset="-122"/>
                <a:ea typeface="苹方 常规" panose="020B0300000000000000" charset="-122"/>
                <a:cs typeface="苹方 常规" panose="020B0300000000000000" charset="-122"/>
              </a:rPr>
              <a:t> </a:t>
            </a:r>
            <a:r>
              <a:rPr spc="35" dirty="0">
                <a:latin typeface="苹方 常规" panose="020B0300000000000000" charset="-122"/>
                <a:ea typeface="苹方 常规" panose="020B0300000000000000" charset="-122"/>
                <a:cs typeface="苹方 常规" panose="020B0300000000000000" charset="-122"/>
              </a:rPr>
              <a:t>“IEXS</a:t>
            </a:r>
            <a:r>
              <a:rPr spc="110" dirty="0">
                <a:latin typeface="苹方 常规" panose="020B0300000000000000" charset="-122"/>
                <a:ea typeface="苹方 常规" panose="020B0300000000000000" charset="-122"/>
                <a:cs typeface="苹方 常规" panose="020B0300000000000000" charset="-122"/>
              </a:rPr>
              <a:t> </a:t>
            </a:r>
            <a:r>
              <a:rPr spc="40" dirty="0" err="1">
                <a:latin typeface="苹方 常规" panose="020B0300000000000000" charset="-122"/>
                <a:ea typeface="苹方 常规" panose="020B0300000000000000" charset="-122"/>
                <a:cs typeface="苹方 常规" panose="020B0300000000000000" charset="-122"/>
              </a:rPr>
              <a:t>EXTRA”是一個能配合我們客戶投資組合的一個</a:t>
            </a:r>
            <a:r>
              <a:rPr spc="45" dirty="0" err="1">
                <a:latin typeface="苹方 常规" panose="020B0300000000000000" charset="-122"/>
                <a:ea typeface="苹方 常规" panose="020B0300000000000000" charset="-122"/>
                <a:cs typeface="苹方 常规" panose="020B0300000000000000" charset="-122"/>
              </a:rPr>
              <a:t>新優勢</a:t>
            </a:r>
            <a:r>
              <a:rPr lang="zh-CN" altLang="en-US" spc="10" dirty="0">
                <a:latin typeface="苹方 常规" panose="020B0300000000000000" charset="-122"/>
                <a:ea typeface="苹方 常规" panose="020B0300000000000000" charset="-122"/>
                <a:cs typeface="苹方 常规" panose="020B0300000000000000" charset="-122"/>
              </a:rPr>
              <a:t>。</a:t>
            </a:r>
            <a:r>
              <a:rPr spc="40" dirty="0" err="1">
                <a:latin typeface="苹方 常规" panose="020B0300000000000000" charset="-122"/>
                <a:ea typeface="苹方 常规" panose="020B0300000000000000" charset="-122"/>
                <a:cs typeface="苹方 常规" panose="020B0300000000000000" charset="-122"/>
              </a:rPr>
              <a:t>由IEXS</a:t>
            </a:r>
            <a:r>
              <a:rPr spc="45" dirty="0" err="1">
                <a:latin typeface="苹方 常规" panose="020B0300000000000000" charset="-122"/>
                <a:ea typeface="苹方 常规" panose="020B0300000000000000" charset="-122"/>
                <a:cs typeface="苹方 常规" panose="020B0300000000000000" charset="-122"/>
              </a:rPr>
              <a:t>集團所合作的投資銀行與對沖基金給予的流動性所產</a:t>
            </a:r>
            <a:r>
              <a:rPr lang="zh-CN" altLang="en-US" spc="-40" dirty="0">
                <a:latin typeface="苹方 常规" panose="020B0300000000000000" charset="-122"/>
                <a:ea typeface="苹方 常规" panose="020B0300000000000000" charset="-122"/>
                <a:cs typeface="苹方 常规" panose="020B0300000000000000" charset="-122"/>
              </a:rPr>
              <a:t>生</a:t>
            </a:r>
            <a:r>
              <a:rPr spc="45" dirty="0" err="1">
                <a:latin typeface="苹方 常规" panose="020B0300000000000000" charset="-122"/>
                <a:ea typeface="苹方 常规" panose="020B0300000000000000" charset="-122"/>
                <a:cs typeface="苹方 常规" panose="020B0300000000000000" charset="-122"/>
              </a:rPr>
              <a:t>的隔夜利息，我們爲客戶爭取到長期和穩健的收益獎賞，</a:t>
            </a:r>
            <a:r>
              <a:rPr spc="40" dirty="0" err="1">
                <a:latin typeface="苹方 常规" panose="020B0300000000000000" charset="-122"/>
                <a:ea typeface="苹方 常规" panose="020B0300000000000000" charset="-122"/>
                <a:cs typeface="苹方 常规" panose="020B0300000000000000" charset="-122"/>
              </a:rPr>
              <a:t>並通過推出</a:t>
            </a:r>
            <a:r>
              <a:rPr spc="35" dirty="0" err="1">
                <a:latin typeface="苹方 常规" panose="020B0300000000000000" charset="-122"/>
                <a:ea typeface="苹方 常规" panose="020B0300000000000000" charset="-122"/>
                <a:cs typeface="苹方 常规" panose="020B0300000000000000" charset="-122"/>
              </a:rPr>
              <a:t>“IEXS</a:t>
            </a:r>
            <a:r>
              <a:rPr spc="180" dirty="0">
                <a:latin typeface="苹方 常规" panose="020B0300000000000000" charset="-122"/>
                <a:ea typeface="苹方 常规" panose="020B0300000000000000" charset="-122"/>
                <a:cs typeface="苹方 常规" panose="020B0300000000000000" charset="-122"/>
              </a:rPr>
              <a:t> </a:t>
            </a:r>
            <a:r>
              <a:rPr spc="40" dirty="0" err="1">
                <a:latin typeface="苹方 常规" panose="020B0300000000000000" charset="-122"/>
                <a:ea typeface="苹方 常规" panose="020B0300000000000000" charset="-122"/>
                <a:cs typeface="苹方 常规" panose="020B0300000000000000" charset="-122"/>
              </a:rPr>
              <a:t>EXTRA”這個複利計劃反饋到我們尊貴的客戶手中，無限制的資金與獎賞調配</a:t>
            </a:r>
            <a:r>
              <a:rPr spc="10" dirty="0" err="1">
                <a:latin typeface="苹方 常规" panose="020B0300000000000000" charset="-122"/>
                <a:ea typeface="苹方 常规" panose="020B0300000000000000" charset="-122"/>
                <a:cs typeface="苹方 常规" panose="020B0300000000000000" charset="-122"/>
              </a:rPr>
              <a:t>，</a:t>
            </a:r>
            <a:r>
              <a:rPr spc="40" dirty="0" err="1">
                <a:latin typeface="苹方 常规" panose="020B0300000000000000" charset="-122"/>
                <a:ea typeface="苹方 常规" panose="020B0300000000000000" charset="-122"/>
                <a:cs typeface="苹方 常规" panose="020B0300000000000000" charset="-122"/>
              </a:rPr>
              <a:t>給予客戶最大的自由度去賺取一份額外的收益</a:t>
            </a:r>
            <a:r>
              <a:rPr spc="40" dirty="0">
                <a:latin typeface="苹方 常规" panose="020B0300000000000000" charset="-122"/>
                <a:ea typeface="苹方 常规" panose="020B0300000000000000" charset="-122"/>
                <a:cs typeface="苹方 常规" panose="020B0300000000000000" charset="-122"/>
              </a:rPr>
              <a:t>。</a:t>
            </a:r>
          </a:p>
          <a:p>
            <a:pPr marL="118745">
              <a:lnSpc>
                <a:spcPct val="100000"/>
              </a:lnSpc>
              <a:spcBef>
                <a:spcPts val="10"/>
              </a:spcBef>
            </a:pPr>
            <a:endParaRPr sz="1650" dirty="0">
              <a:latin typeface="苹方 常规" panose="020B0300000000000000" charset="-122"/>
              <a:ea typeface="苹方 常规" panose="020B0300000000000000" charset="-122"/>
              <a:cs typeface="苹方 常规" panose="020B0300000000000000" charset="-122"/>
            </a:endParaRPr>
          </a:p>
          <a:p>
            <a:pPr marL="131445">
              <a:lnSpc>
                <a:spcPct val="100000"/>
              </a:lnSpc>
              <a:spcBef>
                <a:spcPts val="5"/>
              </a:spcBef>
            </a:pPr>
            <a:r>
              <a:rPr sz="1200" b="0" spc="20" dirty="0">
                <a:solidFill>
                  <a:srgbClr val="B68756"/>
                </a:solidFill>
                <a:latin typeface="苹方 常规" panose="020B0300000000000000" charset="-122"/>
                <a:ea typeface="苹方 常规" panose="020B0300000000000000" charset="-122"/>
                <a:cs typeface="苹方 常规" panose="020B0300000000000000" charset="-122"/>
              </a:rPr>
              <a:t>“IEXS</a:t>
            </a:r>
            <a:r>
              <a:rPr sz="1200" b="0" spc="45" dirty="0">
                <a:solidFill>
                  <a:srgbClr val="B68756"/>
                </a:solidFill>
                <a:latin typeface="苹方 常规" panose="020B0300000000000000" charset="-122"/>
                <a:ea typeface="苹方 常规" panose="020B0300000000000000" charset="-122"/>
                <a:cs typeface="苹方 常规" panose="020B0300000000000000" charset="-122"/>
              </a:rPr>
              <a:t> </a:t>
            </a:r>
            <a:r>
              <a:rPr sz="1200" b="0" spc="20" dirty="0">
                <a:solidFill>
                  <a:srgbClr val="B68756"/>
                </a:solidFill>
                <a:latin typeface="苹方 常规" panose="020B0300000000000000" charset="-122"/>
                <a:ea typeface="苹方 常规" panose="020B0300000000000000" charset="-122"/>
                <a:cs typeface="苹方 常规" panose="020B0300000000000000" charset="-122"/>
              </a:rPr>
              <a:t>EXTRA”-</a:t>
            </a:r>
            <a:r>
              <a:rPr sz="1200" b="0" spc="50" dirty="0">
                <a:solidFill>
                  <a:srgbClr val="B68756"/>
                </a:solidFill>
                <a:latin typeface="苹方 常规" panose="020B0300000000000000" charset="-122"/>
                <a:ea typeface="苹方 常规" panose="020B0300000000000000" charset="-122"/>
                <a:cs typeface="苹方 常规" panose="020B0300000000000000" charset="-122"/>
              </a:rPr>
              <a:t> </a:t>
            </a:r>
            <a:r>
              <a:rPr sz="1200" b="0" spc="25" dirty="0">
                <a:solidFill>
                  <a:srgbClr val="B68756"/>
                </a:solidFill>
                <a:latin typeface="苹方 常规" panose="020B0300000000000000" charset="-122"/>
                <a:ea typeface="苹方 常规" panose="020B0300000000000000" charset="-122"/>
                <a:cs typeface="苹方 常规" panose="020B0300000000000000" charset="-122"/>
              </a:rPr>
              <a:t>爲您開拓成功交易之路</a:t>
            </a:r>
            <a:endParaRPr sz="1200" dirty="0">
              <a:solidFill>
                <a:srgbClr val="B68756"/>
              </a:solidFill>
              <a:latin typeface="苹方 常规" panose="020B0300000000000000" charset="-122"/>
              <a:ea typeface="苹方 常规" panose="020B0300000000000000" charset="-122"/>
              <a:cs typeface="苹方 常规" panose="020B0300000000000000" charset="-122"/>
            </a:endParaRPr>
          </a:p>
          <a:p>
            <a:pPr marL="118745">
              <a:lnSpc>
                <a:spcPct val="100000"/>
              </a:lnSpc>
              <a:spcBef>
                <a:spcPts val="30"/>
              </a:spcBef>
            </a:pPr>
            <a:endParaRPr sz="1400" dirty="0">
              <a:latin typeface="苹方 常规" panose="020B0300000000000000" charset="-122"/>
              <a:ea typeface="苹方 常规" panose="020B0300000000000000" charset="-122"/>
              <a:cs typeface="苹方 常规" panose="020B0300000000000000" charset="-122"/>
            </a:endParaRPr>
          </a:p>
          <a:p>
            <a:pPr marL="131445" marR="161290">
              <a:lnSpc>
                <a:spcPct val="144000"/>
              </a:lnSpc>
            </a:pPr>
            <a:r>
              <a:rPr spc="-5" dirty="0">
                <a:latin typeface="苹方 常规" panose="020B0300000000000000" charset="-122"/>
                <a:ea typeface="苹方 常规" panose="020B0300000000000000" charset="-122"/>
                <a:cs typeface="苹方 常规" panose="020B0300000000000000" charset="-122"/>
              </a:rPr>
              <a:t>“IEXS</a:t>
            </a:r>
            <a:r>
              <a:rPr spc="10" dirty="0">
                <a:latin typeface="苹方 常规" panose="020B0300000000000000" charset="-122"/>
                <a:ea typeface="苹方 常规" panose="020B0300000000000000" charset="-122"/>
                <a:cs typeface="苹方 常规" panose="020B0300000000000000" charset="-122"/>
              </a:rPr>
              <a:t> </a:t>
            </a:r>
            <a:r>
              <a:rPr spc="-5" dirty="0">
                <a:latin typeface="苹方 常规" panose="020B0300000000000000" charset="-122"/>
                <a:ea typeface="苹方 常规" panose="020B0300000000000000" charset="-122"/>
                <a:cs typeface="苹方 常规" panose="020B0300000000000000" charset="-122"/>
              </a:rPr>
              <a:t>EXTRA”受益於集團投行業務的支持（MMF），是一種全智能增值服務并且適用于所有客戶，在完全不影響客戶交易的情況下，讓您在投資交易過程中同時也能穩定的賺取賬戶可用保證金的複利收益</a:t>
            </a:r>
            <a:r>
              <a:rPr spc="10" dirty="0">
                <a:latin typeface="苹方 常规" panose="020B0300000000000000" charset="-122"/>
                <a:ea typeface="苹方 常规" panose="020B0300000000000000" charset="-122"/>
                <a:cs typeface="苹方 常规" panose="020B0300000000000000" charset="-122"/>
              </a:rPr>
              <a:t>，</a:t>
            </a:r>
            <a:r>
              <a:rPr spc="-5" dirty="0">
                <a:latin typeface="苹方 常规" panose="020B0300000000000000" charset="-122"/>
                <a:ea typeface="苹方 常规" panose="020B0300000000000000" charset="-122"/>
                <a:cs typeface="苹方 常规" panose="020B0300000000000000" charset="-122"/>
              </a:rPr>
              <a:t>每日結算為客戶的投資利益最大化。年化利率能高達</a:t>
            </a:r>
            <a:r>
              <a:rPr dirty="0">
                <a:latin typeface="苹方 常规" panose="020B0300000000000000" charset="-122"/>
                <a:ea typeface="苹方 常规" panose="020B0300000000000000" charset="-122"/>
                <a:cs typeface="苹方 常规" panose="020B0300000000000000" charset="-122"/>
              </a:rPr>
              <a:t>5%，</a:t>
            </a:r>
            <a:r>
              <a:rPr spc="-5" dirty="0">
                <a:latin typeface="苹方 常规" panose="020B0300000000000000" charset="-122"/>
                <a:ea typeface="苹方 常规" panose="020B0300000000000000" charset="-122"/>
                <a:cs typeface="苹方 常规" panose="020B0300000000000000" charset="-122"/>
              </a:rPr>
              <a:t>客戶交易賬戶之可用保證金只需高於5000美元便可以每日輕鬆賺取複利收益</a:t>
            </a:r>
            <a:r>
              <a:rPr dirty="0">
                <a:latin typeface="苹方 常规" panose="020B0300000000000000" charset="-122"/>
                <a:ea typeface="苹方 常规" panose="020B0300000000000000" charset="-122"/>
                <a:cs typeface="苹方 常规" panose="020B0300000000000000" charset="-122"/>
              </a:rPr>
              <a:t>, </a:t>
            </a:r>
            <a:r>
              <a:rPr spc="-5" dirty="0" err="1">
                <a:latin typeface="苹方 常规" panose="020B0300000000000000" charset="-122"/>
                <a:ea typeface="苹方 常规" panose="020B0300000000000000" charset="-122"/>
                <a:cs typeface="苹方 常规" panose="020B0300000000000000" charset="-122"/>
              </a:rPr>
              <a:t>容戶只需登入到個人後台,便可於資金進出明細查找複利獎賞記錄</a:t>
            </a:r>
            <a:r>
              <a:rPr spc="-5" dirty="0">
                <a:latin typeface="苹方 常规" panose="020B0300000000000000" charset="-122"/>
                <a:ea typeface="苹方 常规" panose="020B0300000000000000" charset="-122"/>
                <a:cs typeface="苹方 常规" panose="020B0300000000000000" charset="-122"/>
              </a:rPr>
              <a:t>。</a:t>
            </a:r>
          </a:p>
        </p:txBody>
      </p:sp>
      <p:sp>
        <p:nvSpPr>
          <p:cNvPr id="5" name="object 5"/>
          <p:cNvSpPr txBox="1"/>
          <p:nvPr/>
        </p:nvSpPr>
        <p:spPr>
          <a:xfrm>
            <a:off x="597977" y="5340997"/>
            <a:ext cx="2649220" cy="983603"/>
          </a:xfrm>
          <a:prstGeom prst="rect">
            <a:avLst/>
          </a:prstGeom>
        </p:spPr>
        <p:txBody>
          <a:bodyPr vert="horz" wrap="square" lIns="0" tIns="13970" rIns="0" bIns="0" rtlCol="0">
            <a:spAutoFit/>
          </a:bodyPr>
          <a:lstStyle/>
          <a:p>
            <a:pPr marL="282575" indent="-269875">
              <a:lnSpc>
                <a:spcPct val="100000"/>
              </a:lnSpc>
              <a:spcBef>
                <a:spcPts val="110"/>
              </a:spcBef>
              <a:buClr>
                <a:srgbClr val="B68756"/>
              </a:buClr>
              <a:buFont typeface="Symbol" panose="05050102010706020507"/>
              <a:buChar char=""/>
              <a:tabLst>
                <a:tab pos="281940" algn="l"/>
                <a:tab pos="28257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無限制複利獎</a:t>
            </a:r>
            <a:r>
              <a:rPr sz="900" b="0" spc="10" dirty="0">
                <a:solidFill>
                  <a:srgbClr val="948980"/>
                </a:solidFill>
                <a:latin typeface="苹方 常规" panose="020B0300000000000000" charset="-122"/>
                <a:ea typeface="苹方 常规" panose="020B0300000000000000" charset="-122"/>
                <a:cs typeface="苹方 常规" panose="020B0300000000000000" charset="-122"/>
              </a:rPr>
              <a:t>賞</a:t>
            </a:r>
            <a:r>
              <a:rPr sz="900" b="0" spc="-4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可用保證金越</a:t>
            </a:r>
            <a:r>
              <a:rPr sz="900" b="0" spc="10" dirty="0">
                <a:solidFill>
                  <a:srgbClr val="948980"/>
                </a:solidFill>
                <a:latin typeface="苹方 常规" panose="020B0300000000000000" charset="-122"/>
                <a:ea typeface="苹方 常规" panose="020B0300000000000000" charset="-122"/>
                <a:cs typeface="苹方 常规" panose="020B0300000000000000" charset="-122"/>
              </a:rPr>
              <a:t>高</a:t>
            </a:r>
            <a:r>
              <a:rPr sz="900" b="0" spc="-4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收益反饋越高</a:t>
            </a:r>
            <a:endParaRPr sz="900" dirty="0">
              <a:latin typeface="苹方 常规" panose="020B0300000000000000" charset="-122"/>
              <a:ea typeface="苹方 常规" panose="020B0300000000000000" charset="-122"/>
              <a:cs typeface="苹方 常规" panose="020B0300000000000000" charset="-122"/>
            </a:endParaRPr>
          </a:p>
          <a:p>
            <a:pPr marL="281940">
              <a:lnSpc>
                <a:spcPct val="100000"/>
              </a:lnSpc>
            </a:pPr>
            <a:endParaRPr lang="en-US" sz="900" dirty="0">
              <a:latin typeface="苹方 常规" panose="020B0300000000000000" charset="-122"/>
              <a:ea typeface="苹方 常规" panose="020B0300000000000000" charset="-122"/>
              <a:cs typeface="苹方 常规" panose="020B0300000000000000" charset="-122"/>
            </a:endParaRPr>
          </a:p>
          <a:p>
            <a:pPr marL="282575" indent="-269875">
              <a:buClr>
                <a:srgbClr val="B68756"/>
              </a:buClr>
              <a:buFont typeface="Symbol" panose="05050102010706020507"/>
              <a:buChar char=""/>
              <a:tabLst>
                <a:tab pos="281940" algn="l"/>
                <a:tab pos="282575" algn="l"/>
              </a:tabLst>
            </a:pPr>
            <a:r>
              <a:rPr sz="900" spc="-5" dirty="0" err="1">
                <a:solidFill>
                  <a:srgbClr val="948980"/>
                </a:solidFill>
                <a:ea typeface="苹方 常规" panose="020B0300000000000000" charset="-122"/>
              </a:rPr>
              <a:t>於每日獎賞結算</a:t>
            </a:r>
            <a:r>
              <a:rPr sz="900" spc="-5" dirty="0">
                <a:solidFill>
                  <a:srgbClr val="948980"/>
                </a:solidFill>
                <a:ea typeface="苹方 常规" panose="020B0300000000000000" charset="-122"/>
              </a:rPr>
              <a:t> 為客戶提供靈活 自由配搭組合</a:t>
            </a:r>
          </a:p>
          <a:p>
            <a:pPr>
              <a:lnSpc>
                <a:spcPct val="100000"/>
              </a:lnSpc>
              <a:spcBef>
                <a:spcPts val="45"/>
              </a:spcBef>
            </a:pPr>
            <a:endParaRPr sz="900" dirty="0">
              <a:latin typeface="苹方 常规" panose="020B0300000000000000" charset="-122"/>
              <a:ea typeface="苹方 常规" panose="020B0300000000000000" charset="-122"/>
              <a:cs typeface="苹方 常规" panose="020B0300000000000000" charset="-122"/>
            </a:endParaRPr>
          </a:p>
          <a:p>
            <a:pPr marL="282575" indent="-269875">
              <a:lnSpc>
                <a:spcPct val="100000"/>
              </a:lnSpc>
              <a:buClr>
                <a:srgbClr val="B68756"/>
              </a:buClr>
              <a:buFont typeface="Symbol" panose="05050102010706020507"/>
              <a:buChar char=""/>
              <a:tabLst>
                <a:tab pos="281940" algn="l"/>
                <a:tab pos="282575"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最低入門檻要</a:t>
            </a:r>
            <a:r>
              <a:rPr sz="900" b="0" spc="10" dirty="0" err="1">
                <a:solidFill>
                  <a:srgbClr val="948980"/>
                </a:solidFill>
                <a:latin typeface="苹方 常规" panose="020B0300000000000000" charset="-122"/>
                <a:ea typeface="苹方 常规" panose="020B0300000000000000" charset="-122"/>
                <a:cs typeface="苹方 常规" panose="020B0300000000000000" charset="-122"/>
              </a:rPr>
              <a:t>求</a:t>
            </a:r>
            <a:r>
              <a:rPr sz="900" b="0" spc="-4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所有客戶均適</a:t>
            </a:r>
            <a:r>
              <a:rPr sz="900" b="0" spc="10" dirty="0" err="1">
                <a:solidFill>
                  <a:srgbClr val="948980"/>
                </a:solidFill>
                <a:latin typeface="苹方 常规" panose="020B0300000000000000" charset="-122"/>
                <a:ea typeface="苹方 常规" panose="020B0300000000000000" charset="-122"/>
                <a:cs typeface="苹方 常规" panose="020B0300000000000000" charset="-122"/>
              </a:rPr>
              <a:t>用</a:t>
            </a:r>
            <a:r>
              <a:rPr sz="900" b="0" spc="-4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輕鬆賺取複利</a:t>
            </a:r>
            <a:endParaRPr lang="en-US" sz="900" b="0" spc="-5" dirty="0">
              <a:solidFill>
                <a:srgbClr val="948980"/>
              </a:solidFill>
              <a:latin typeface="苹方 常规" panose="020B0300000000000000" charset="-122"/>
              <a:ea typeface="苹方 常规" panose="020B0300000000000000" charset="-122"/>
              <a:cs typeface="苹方 常规" panose="020B0300000000000000" charset="-122"/>
            </a:endParaRPr>
          </a:p>
          <a:p>
            <a:pPr marL="282575" indent="-269875">
              <a:lnSpc>
                <a:spcPct val="100000"/>
              </a:lnSpc>
              <a:buClr>
                <a:srgbClr val="F04C35"/>
              </a:buClr>
              <a:buFont typeface="Symbol" panose="05050102010706020507"/>
              <a:buChar char=""/>
              <a:tabLst>
                <a:tab pos="281940" algn="l"/>
                <a:tab pos="282575" algn="l"/>
              </a:tabLst>
            </a:pPr>
            <a:endParaRPr lang="en-US" sz="900" spc="-5" dirty="0">
              <a:solidFill>
                <a:srgbClr val="948980"/>
              </a:solidFill>
              <a:latin typeface="苹方 常规" panose="020B0300000000000000" charset="-122"/>
              <a:ea typeface="苹方 常规" panose="020B0300000000000000" charset="-122"/>
              <a:cs typeface="苹方 常规" panose="020B0300000000000000" charset="-122"/>
            </a:endParaRPr>
          </a:p>
          <a:p>
            <a:pPr marL="282575" indent="-269875">
              <a:lnSpc>
                <a:spcPct val="100000"/>
              </a:lnSpc>
              <a:buClr>
                <a:srgbClr val="B68756"/>
              </a:buClr>
              <a:buFont typeface="Symbol" panose="05050102010706020507"/>
              <a:buChar char=""/>
              <a:tabLst>
                <a:tab pos="281940" algn="l"/>
                <a:tab pos="282575" algn="l"/>
              </a:tabLst>
            </a:pPr>
            <a:r>
              <a:rPr lang="zh-CN" altLang="en-US" sz="900" spc="-5" dirty="0">
                <a:solidFill>
                  <a:srgbClr val="948980"/>
                </a:solidFill>
                <a:latin typeface="苹方 常规" panose="020B0300000000000000" charset="-122"/>
                <a:ea typeface="苹方 常规" panose="020B0300000000000000" charset="-122"/>
              </a:rPr>
              <a:t>無需持有訂單即可享受複利計劃</a:t>
            </a:r>
            <a:endParaRPr sz="900" spc="-5" dirty="0">
              <a:solidFill>
                <a:srgbClr val="948980"/>
              </a:solidFill>
              <a:latin typeface="苹方 常规" panose="020B0300000000000000" charset="-122"/>
              <a:ea typeface="苹方 常规" panose="020B0300000000000000" charset="-122"/>
            </a:endParaRPr>
          </a:p>
        </p:txBody>
      </p:sp>
      <p:sp>
        <p:nvSpPr>
          <p:cNvPr id="6" name="object 6"/>
          <p:cNvSpPr txBox="1"/>
          <p:nvPr/>
        </p:nvSpPr>
        <p:spPr>
          <a:xfrm>
            <a:off x="589025" y="6472336"/>
            <a:ext cx="5125975" cy="1540678"/>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B68756"/>
                </a:solidFill>
                <a:latin typeface="苹方 常规" panose="020B0300000000000000" charset="-122"/>
                <a:ea typeface="苹方 常规" panose="020B0300000000000000" charset="-122"/>
                <a:cs typeface="苹方 常规" panose="020B0300000000000000" charset="-122"/>
              </a:rPr>
              <a:t>“IEXS</a:t>
            </a:r>
            <a:r>
              <a:rPr sz="1200" spc="45" dirty="0">
                <a:solidFill>
                  <a:srgbClr val="B68756"/>
                </a:solidFill>
                <a:latin typeface="苹方 常规" panose="020B0300000000000000" charset="-122"/>
                <a:ea typeface="苹方 常规" panose="020B0300000000000000" charset="-122"/>
                <a:cs typeface="苹方 常规" panose="020B0300000000000000" charset="-122"/>
              </a:rPr>
              <a:t> </a:t>
            </a:r>
            <a:r>
              <a:rPr sz="1200" spc="20" dirty="0">
                <a:solidFill>
                  <a:srgbClr val="B68756"/>
                </a:solidFill>
                <a:latin typeface="苹方 常规" panose="020B0300000000000000" charset="-122"/>
                <a:ea typeface="苹方 常规" panose="020B0300000000000000" charset="-122"/>
                <a:cs typeface="苹方 常规" panose="020B0300000000000000" charset="-122"/>
              </a:rPr>
              <a:t>EXTRA”-</a:t>
            </a:r>
            <a:r>
              <a:rPr sz="1200" spc="50" dirty="0">
                <a:solidFill>
                  <a:srgbClr val="B68756"/>
                </a:solidFill>
                <a:latin typeface="苹方 常规" panose="020B0300000000000000" charset="-122"/>
                <a:ea typeface="苹方 常规" panose="020B0300000000000000" charset="-122"/>
                <a:cs typeface="苹方 常规" panose="020B0300000000000000" charset="-122"/>
              </a:rPr>
              <a:t> </a:t>
            </a:r>
            <a:r>
              <a:rPr sz="1200" spc="25" dirty="0">
                <a:solidFill>
                  <a:srgbClr val="B68756"/>
                </a:solidFill>
                <a:latin typeface="苹方 常规" panose="020B0300000000000000" charset="-122"/>
                <a:ea typeface="苹方 常规" panose="020B0300000000000000" charset="-122"/>
                <a:cs typeface="苹方 常规" panose="020B0300000000000000" charset="-122"/>
              </a:rPr>
              <a:t>計算方式</a:t>
            </a:r>
            <a:endParaRPr sz="1200" dirty="0">
              <a:solidFill>
                <a:srgbClr val="B68756"/>
              </a:solidFill>
              <a:latin typeface="苹方 常规" panose="020B0300000000000000" charset="-122"/>
              <a:ea typeface="苹方 常规" panose="020B0300000000000000" charset="-122"/>
              <a:cs typeface="苹方 常规" panose="020B0300000000000000" charset="-122"/>
            </a:endParaRPr>
          </a:p>
          <a:p>
            <a:pPr marL="12700" marR="721360">
              <a:lnSpc>
                <a:spcPct val="196000"/>
              </a:lnSpc>
              <a:spcBef>
                <a:spcPts val="995"/>
              </a:spcBef>
              <a:tabLst>
                <a:tab pos="197802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可用保證金：美</a:t>
            </a:r>
            <a:r>
              <a:rPr sz="900" b="0" spc="10" dirty="0">
                <a:solidFill>
                  <a:srgbClr val="948980"/>
                </a:solidFill>
                <a:latin typeface="苹方 常规" panose="020B0300000000000000" charset="-122"/>
                <a:ea typeface="苹方 常规" panose="020B0300000000000000" charset="-122"/>
                <a:cs typeface="苹方 常规" panose="020B0300000000000000" charset="-122"/>
              </a:rPr>
              <a:t>元</a:t>
            </a:r>
            <a:r>
              <a:rPr sz="900" b="0" spc="-5" dirty="0">
                <a:solidFill>
                  <a:srgbClr val="948980"/>
                </a:solidFill>
                <a:latin typeface="苹方 常规" panose="020B0300000000000000" charset="-122"/>
                <a:ea typeface="苹方 常规" panose="020B0300000000000000" charset="-122"/>
                <a:cs typeface="苹方 常规" panose="020B0300000000000000" charset="-122"/>
              </a:rPr>
              <a:t> 128,000.00	如當日獲</a:t>
            </a:r>
            <a:r>
              <a:rPr sz="900" b="0" spc="10" dirty="0">
                <a:solidFill>
                  <a:srgbClr val="948980"/>
                </a:solidFill>
                <a:latin typeface="苹方 常规" panose="020B0300000000000000" charset="-122"/>
                <a:ea typeface="苹方 常规" panose="020B0300000000000000" charset="-122"/>
                <a:cs typeface="苹方 常规" panose="020B0300000000000000" charset="-122"/>
              </a:rPr>
              <a:t>得</a:t>
            </a:r>
            <a:r>
              <a:rPr sz="900" b="0" spc="-6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IEXS</a:t>
            </a:r>
            <a:r>
              <a:rPr sz="900" b="0" spc="-2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EXTRA”尊享年化複利為</a:t>
            </a:r>
            <a:r>
              <a:rPr sz="900" b="0" dirty="0">
                <a:solidFill>
                  <a:srgbClr val="948980"/>
                </a:solidFill>
                <a:latin typeface="苹方 常规" panose="020B0300000000000000" charset="-122"/>
                <a:ea typeface="苹方 常规" panose="020B0300000000000000" charset="-122"/>
                <a:cs typeface="苹方 常规" panose="020B0300000000000000" charset="-122"/>
              </a:rPr>
              <a:t>：5</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公式為：可用保證</a:t>
            </a:r>
            <a:r>
              <a:rPr sz="900" b="0" spc="10" dirty="0">
                <a:solidFill>
                  <a:srgbClr val="948980"/>
                </a:solidFill>
                <a:latin typeface="苹方 常规" panose="020B0300000000000000" charset="-122"/>
                <a:ea typeface="苹方 常规" panose="020B0300000000000000" charset="-122"/>
                <a:cs typeface="苹方 常规" panose="020B0300000000000000" charset="-122"/>
              </a:rPr>
              <a:t>金</a:t>
            </a:r>
            <a:r>
              <a:rPr sz="900" b="0" spc="-2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x</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"IEXS</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EXTRA</a:t>
            </a:r>
            <a:r>
              <a:rPr sz="900" b="0" spc="-5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尊享複利</a:t>
            </a:r>
            <a:r>
              <a:rPr sz="900" b="0"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dirty="0">
                <a:solidFill>
                  <a:srgbClr val="948980"/>
                </a:solidFill>
                <a:latin typeface="苹方 常规" panose="020B0300000000000000" charset="-122"/>
                <a:ea typeface="苹方 常规" panose="020B0300000000000000" charset="-122"/>
                <a:cs typeface="苹方 常规" panose="020B0300000000000000" charset="-122"/>
              </a:rPr>
              <a:t>365</a:t>
            </a:r>
            <a:r>
              <a:rPr sz="900" b="0" spc="-50" dirty="0">
                <a:solidFill>
                  <a:srgbClr val="948980"/>
                </a:solidFill>
                <a:latin typeface="苹方 常规" panose="020B0300000000000000" charset="-122"/>
                <a:ea typeface="苹方 常规" panose="020B0300000000000000" charset="-122"/>
                <a:cs typeface="苹方 常规" panose="020B0300000000000000" charset="-122"/>
              </a:rPr>
              <a:t> </a:t>
            </a:r>
            <a:r>
              <a:rPr sz="900" b="0" spc="10" dirty="0">
                <a:solidFill>
                  <a:srgbClr val="948980"/>
                </a:solidFill>
                <a:latin typeface="苹方 常规" panose="020B0300000000000000" charset="-122"/>
                <a:ea typeface="苹方 常规" panose="020B0300000000000000" charset="-122"/>
                <a:cs typeface="苹方 常规" panose="020B0300000000000000" charset="-122"/>
              </a:rPr>
              <a:t>天</a:t>
            </a:r>
            <a:r>
              <a:rPr sz="900" b="0" spc="-1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每日複利獎賞</a:t>
            </a:r>
            <a:endParaRPr sz="900" dirty="0">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05"/>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則每日可獲取得的複利獎</a:t>
            </a:r>
            <a:r>
              <a:rPr sz="900" b="0" spc="10" dirty="0">
                <a:solidFill>
                  <a:srgbClr val="948980"/>
                </a:solidFill>
                <a:latin typeface="苹方 常规" panose="020B0300000000000000" charset="-122"/>
                <a:ea typeface="苹方 常规" panose="020B0300000000000000" charset="-122"/>
                <a:cs typeface="苹方 常规" panose="020B0300000000000000" charset="-122"/>
              </a:rPr>
              <a:t>賞</a:t>
            </a:r>
            <a:r>
              <a:rPr sz="900" b="0" spc="250" dirty="0">
                <a:solidFill>
                  <a:srgbClr val="948980"/>
                </a:solidFill>
                <a:latin typeface="苹方 常规" panose="020B0300000000000000" charset="-122"/>
                <a:ea typeface="苹方 常规" panose="020B0300000000000000" charset="-122"/>
                <a:cs typeface="苹方 常规" panose="020B0300000000000000" charset="-122"/>
              </a:rPr>
              <a:t> </a:t>
            </a:r>
            <a:r>
              <a:rPr sz="900" b="0" dirty="0">
                <a:solidFill>
                  <a:srgbClr val="948980"/>
                </a:solidFill>
                <a:latin typeface="苹方 常规" panose="020B0300000000000000" charset="-122"/>
                <a:ea typeface="苹方 常规" panose="020B0300000000000000" charset="-122"/>
                <a:cs typeface="苹方 常规" panose="020B0300000000000000" charset="-122"/>
              </a:rPr>
              <a:t>USD</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128,000</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x</a:t>
            </a:r>
            <a:r>
              <a:rPr sz="900" b="0" spc="-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5</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15" dirty="0">
                <a:solidFill>
                  <a:srgbClr val="948980"/>
                </a:solidFill>
                <a:latin typeface="苹方 常规" panose="020B0300000000000000" charset="-122"/>
                <a:ea typeface="苹方 常规" panose="020B0300000000000000" charset="-122"/>
                <a:cs typeface="苹方 常规" panose="020B0300000000000000" charset="-122"/>
              </a:rPr>
              <a:t> </a:t>
            </a:r>
            <a:r>
              <a:rPr sz="900" b="0" dirty="0">
                <a:solidFill>
                  <a:srgbClr val="948980"/>
                </a:solidFill>
                <a:latin typeface="苹方 常规" panose="020B0300000000000000" charset="-122"/>
                <a:ea typeface="苹方 常规" panose="020B0300000000000000" charset="-122"/>
                <a:cs typeface="苹方 常规" panose="020B0300000000000000" charset="-122"/>
              </a:rPr>
              <a:t>365</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17.53</a:t>
            </a:r>
            <a:r>
              <a:rPr sz="900" b="0" spc="-5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美元</a:t>
            </a:r>
            <a:endParaRPr lang="en-US" sz="900" b="0" spc="-5" dirty="0">
              <a:solidFill>
                <a:srgbClr val="948980"/>
              </a:solidFill>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05"/>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a:solidFill>
                  <a:srgbClr val="948980"/>
                </a:solidFill>
                <a:latin typeface="苹方 常规" panose="020B0300000000000000" charset="-122"/>
                <a:ea typeface="苹方 常规" panose="020B0300000000000000" charset="-122"/>
                <a:cs typeface="苹方 常规" panose="020B0300000000000000" charset="-122"/>
              </a:rPr>
              <a:t>***</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IEXS EXTRA</a:t>
            </a:r>
            <a:r>
              <a:rPr sz="900" b="0" spc="-4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尊享年化複</a:t>
            </a:r>
            <a:r>
              <a:rPr sz="900" b="0" spc="10" dirty="0">
                <a:solidFill>
                  <a:srgbClr val="948980"/>
                </a:solidFill>
                <a:latin typeface="苹方 常规" panose="020B0300000000000000" charset="-122"/>
                <a:ea typeface="苹方 常规" panose="020B0300000000000000" charset="-122"/>
                <a:cs typeface="苹方 常规" panose="020B0300000000000000" charset="-122"/>
              </a:rPr>
              <a:t>利</a:t>
            </a:r>
            <a:r>
              <a:rPr sz="900" b="0" spc="-10" dirty="0">
                <a:solidFill>
                  <a:srgbClr val="948980"/>
                </a:solidFill>
                <a:latin typeface="苹方 常规" panose="020B0300000000000000" charset="-122"/>
                <a:ea typeface="苹方 常规" panose="020B0300000000000000" charset="-122"/>
                <a:cs typeface="苹方 常规" panose="020B0300000000000000" charset="-122"/>
              </a:rPr>
              <a:t> </a:t>
            </a:r>
            <a:r>
              <a:rPr sz="900" b="0" dirty="0">
                <a:solidFill>
                  <a:srgbClr val="948980"/>
                </a:solidFill>
                <a:latin typeface="苹方 常规" panose="020B0300000000000000" charset="-122"/>
                <a:ea typeface="苹方 常规" panose="020B0300000000000000" charset="-122"/>
                <a:cs typeface="苹方 常规" panose="020B0300000000000000" charset="-122"/>
              </a:rPr>
              <a:t>“</a:t>
            </a:r>
            <a:r>
              <a:rPr sz="900" b="0" spc="-5" dirty="0">
                <a:solidFill>
                  <a:srgbClr val="948980"/>
                </a:solidFill>
                <a:latin typeface="苹方 常规" panose="020B0300000000000000" charset="-122"/>
                <a:ea typeface="苹方 常规" panose="020B0300000000000000" charset="-122"/>
                <a:cs typeface="苹方 常规" panose="020B0300000000000000" charset="-122"/>
              </a:rPr>
              <a:t> 為浮動利率，與每日銀行拆借利率相關，以上計算方法僅供參考***  計算方式必須達到以下所有條件</a:t>
            </a:r>
            <a:r>
              <a:rPr sz="900" b="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p:txBody>
      </p:sp>
      <p:sp>
        <p:nvSpPr>
          <p:cNvPr id="7" name="object 7"/>
          <p:cNvSpPr txBox="1"/>
          <p:nvPr/>
        </p:nvSpPr>
        <p:spPr>
          <a:xfrm>
            <a:off x="605535" y="8168915"/>
            <a:ext cx="2733675" cy="658514"/>
          </a:xfrm>
          <a:prstGeom prst="rect">
            <a:avLst/>
          </a:prstGeom>
        </p:spPr>
        <p:txBody>
          <a:bodyPr vert="horz" wrap="square" lIns="0" tIns="88265" rIns="0" bIns="0" rtlCol="0">
            <a:spAutoFit/>
          </a:bodyPr>
          <a:lstStyle/>
          <a:p>
            <a:pPr marL="241300" indent="-228600">
              <a:lnSpc>
                <a:spcPct val="100000"/>
              </a:lnSpc>
              <a:spcBef>
                <a:spcPts val="600"/>
              </a:spcBef>
              <a:buFont typeface="+mj-lt"/>
              <a:buAutoNum type="arabicPeriod"/>
              <a:tabLst>
                <a:tab pos="240665" algn="l"/>
                <a:tab pos="241300" algn="l"/>
              </a:tabLst>
            </a:pPr>
            <a:r>
              <a:rPr sz="900" b="0" spc="-5" dirty="0" err="1">
                <a:solidFill>
                  <a:srgbClr val="948980"/>
                </a:solidFill>
                <a:latin typeface="苹方 常规" panose="020B0300000000000000" charset="-122"/>
                <a:ea typeface="苹方 常规" panose="020B0300000000000000" charset="-122"/>
                <a:cs typeface="苹方 常规" panose="020B0300000000000000" charset="-122"/>
              </a:rPr>
              <a:t>交易賬戶之可用保證金需高</a:t>
            </a:r>
            <a:r>
              <a:rPr sz="900" b="0" spc="10" dirty="0" err="1">
                <a:solidFill>
                  <a:srgbClr val="948980"/>
                </a:solidFill>
                <a:latin typeface="苹方 常规" panose="020B0300000000000000" charset="-122"/>
                <a:ea typeface="苹方 常规" panose="020B0300000000000000" charset="-122"/>
                <a:cs typeface="苹方 常规" panose="020B0300000000000000" charset="-122"/>
              </a:rPr>
              <a:t>於</a:t>
            </a:r>
            <a:r>
              <a:rPr sz="900" b="0" spc="-6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5000</a:t>
            </a:r>
            <a:r>
              <a:rPr sz="900" b="0" spc="-5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美元</a:t>
            </a:r>
            <a:endParaRPr sz="900" dirty="0">
              <a:latin typeface="苹方 常规" panose="020B0300000000000000" charset="-122"/>
              <a:ea typeface="苹方 常规" panose="020B0300000000000000" charset="-122"/>
              <a:cs typeface="苹方 常规" panose="020B0300000000000000" charset="-122"/>
            </a:endParaRPr>
          </a:p>
          <a:p>
            <a:pPr marL="241300" indent="-228600">
              <a:spcBef>
                <a:spcPts val="600"/>
              </a:spcBef>
              <a:buFontTx/>
              <a:buAutoNum type="arabicPeriod"/>
              <a:tabLst>
                <a:tab pos="240665" algn="l"/>
                <a:tab pos="241300"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計算年複利的每年日數：365</a:t>
            </a:r>
            <a:r>
              <a:rPr sz="900" b="0" spc="-55" dirty="0">
                <a:solidFill>
                  <a:srgbClr val="948980"/>
                </a:solidFill>
                <a:latin typeface="苹方 常规" panose="020B0300000000000000" charset="-122"/>
                <a:ea typeface="苹方 常规" panose="020B0300000000000000" charset="-122"/>
                <a:cs typeface="苹方 常规" panose="020B0300000000000000" charset="-122"/>
              </a:rPr>
              <a:t> </a:t>
            </a:r>
            <a:r>
              <a:rPr lang="en-US" altLang="zh-TW" sz="900" spc="-5" dirty="0">
                <a:solidFill>
                  <a:srgbClr val="948980"/>
                </a:solidFill>
                <a:latin typeface="苹方 常规" panose="020B0300000000000000" charset="-122"/>
                <a:ea typeface="苹方 常规" panose="020B0300000000000000" charset="-122"/>
                <a:cs typeface="苹方 常规" panose="020B0300000000000000" charset="-122"/>
                <a:sym typeface="+mn-ea"/>
              </a:rPr>
              <a:t>	</a:t>
            </a:r>
          </a:p>
          <a:p>
            <a:pPr marL="241300" indent="-228600">
              <a:spcBef>
                <a:spcPts val="600"/>
              </a:spcBef>
              <a:buFontTx/>
              <a:buAutoNum type="arabicPeriod"/>
              <a:tabLst>
                <a:tab pos="240665" algn="l"/>
                <a:tab pos="241300" algn="l"/>
              </a:tabLst>
            </a:pPr>
            <a:r>
              <a:rPr lang="en-US" altLang="zh-TW" sz="900" spc="-5" dirty="0">
                <a:solidFill>
                  <a:srgbClr val="948980"/>
                </a:solidFill>
                <a:latin typeface="苹方 常规" panose="020B0300000000000000" charset="-122"/>
                <a:ea typeface="苹方 常规" panose="020B0300000000000000" charset="-122"/>
                <a:cs typeface="苹方 常规" panose="020B0300000000000000" charset="-122"/>
                <a:sym typeface="+mn-ea"/>
              </a:rPr>
              <a:t>PAMM</a:t>
            </a:r>
            <a:r>
              <a:rPr lang="zh-TW" altLang="en-US" sz="900" spc="-5" dirty="0">
                <a:solidFill>
                  <a:srgbClr val="948980"/>
                </a:solidFill>
                <a:latin typeface="苹方 常规" panose="020B0300000000000000" charset="-122"/>
                <a:ea typeface="苹方 常规" panose="020B0300000000000000" charset="-122"/>
                <a:cs typeface="苹方 常规" panose="020B0300000000000000" charset="-122"/>
                <a:sym typeface="+mn-ea"/>
              </a:rPr>
              <a:t>的交易賬戶不享受複利計劃</a:t>
            </a:r>
            <a:r>
              <a:rPr lang="zh-TW" altLang="en-US" sz="900" dirty="0">
                <a:latin typeface="苹方 常规" panose="020B0300000000000000" charset="-122"/>
                <a:ea typeface="苹方 常规" panose="020B0300000000000000" charset="-122"/>
                <a:cs typeface="苹方 常规" panose="020B0300000000000000" charset="-122"/>
              </a:rPr>
              <a:t> </a:t>
            </a:r>
          </a:p>
        </p:txBody>
      </p:sp>
      <p:sp>
        <p:nvSpPr>
          <p:cNvPr id="8" name="object 8"/>
          <p:cNvSpPr txBox="1"/>
          <p:nvPr/>
        </p:nvSpPr>
        <p:spPr>
          <a:xfrm>
            <a:off x="4292220" y="8204256"/>
            <a:ext cx="2874645" cy="640112"/>
          </a:xfrm>
          <a:prstGeom prst="rect">
            <a:avLst/>
          </a:prstGeom>
        </p:spPr>
        <p:txBody>
          <a:bodyPr vert="horz" wrap="square" lIns="0" tIns="12065" rIns="0" bIns="0" rtlCol="0">
            <a:spAutoFit/>
          </a:bodyPr>
          <a:lstStyle/>
          <a:p>
            <a:pPr marL="241300" marR="5080" indent="-228600">
              <a:lnSpc>
                <a:spcPct val="156000"/>
              </a:lnSpc>
              <a:spcBef>
                <a:spcPts val="95"/>
              </a:spcBef>
              <a:tabLst>
                <a:tab pos="240665" algn="l"/>
              </a:tabLst>
            </a:pPr>
            <a:r>
              <a:rPr lang="en-US" sz="900" b="0" spc="-5" dirty="0">
                <a:solidFill>
                  <a:srgbClr val="948980"/>
                </a:solidFill>
                <a:latin typeface="苹方 常规" panose="020B0300000000000000" charset="-122"/>
                <a:ea typeface="苹方 常规" panose="020B0300000000000000" charset="-122"/>
                <a:cs typeface="苹方 常规" panose="020B0300000000000000" charset="-122"/>
              </a:rPr>
              <a:t>4</a:t>
            </a:r>
            <a:r>
              <a:rPr sz="900" b="0" spc="-5" dirty="0">
                <a:solidFill>
                  <a:srgbClr val="948980"/>
                </a:solidFill>
                <a:latin typeface="苹方 常规" panose="020B0300000000000000" charset="-122"/>
                <a:ea typeface="苹方 常规" panose="020B0300000000000000" charset="-122"/>
                <a:cs typeface="苹方 常规" panose="020B0300000000000000" charset="-122"/>
              </a:rPr>
              <a:t>.	結算時間為每日英國格林威治標準時間（GMT+0）  22:00-24:00,</a:t>
            </a:r>
            <a:r>
              <a:rPr sz="900" b="0" spc="-3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結算時間過程根據用戶活躍度可能各</a:t>
            </a:r>
            <a:r>
              <a:rPr sz="900" b="0" spc="10" dirty="0">
                <a:solidFill>
                  <a:srgbClr val="948980"/>
                </a:solidFill>
                <a:latin typeface="苹方 常规" panose="020B0300000000000000" charset="-122"/>
                <a:ea typeface="苹方 常规" panose="020B0300000000000000" charset="-122"/>
                <a:cs typeface="苹方 常规" panose="020B0300000000000000" charset="-122"/>
              </a:rPr>
              <a:t>有 </a:t>
            </a:r>
            <a:r>
              <a:rPr sz="900" b="0" spc="-5" dirty="0">
                <a:solidFill>
                  <a:srgbClr val="948980"/>
                </a:solidFill>
                <a:latin typeface="苹方 常规" panose="020B0300000000000000" charset="-122"/>
                <a:ea typeface="苹方 常规" panose="020B0300000000000000" charset="-122"/>
                <a:cs typeface="苹方 常规" panose="020B0300000000000000" charset="-122"/>
              </a:rPr>
              <a:t>不同，統一在次</a:t>
            </a:r>
            <a:r>
              <a:rPr sz="900" b="0" spc="10" dirty="0">
                <a:solidFill>
                  <a:srgbClr val="948980"/>
                </a:solidFill>
                <a:latin typeface="苹方 常规" panose="020B0300000000000000" charset="-122"/>
                <a:ea typeface="苹方 常规" panose="020B0300000000000000" charset="-122"/>
                <a:cs typeface="苹方 常规" panose="020B0300000000000000" charset="-122"/>
              </a:rPr>
              <a:t>日</a:t>
            </a:r>
            <a:r>
              <a:rPr sz="900" b="0" spc="-6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06：00</a:t>
            </a:r>
            <a:r>
              <a:rPr sz="900" b="0" spc="-5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err="1">
                <a:solidFill>
                  <a:srgbClr val="948980"/>
                </a:solidFill>
                <a:latin typeface="苹方 常规" panose="020B0300000000000000" charset="-122"/>
                <a:ea typeface="苹方 常规" panose="020B0300000000000000" charset="-122"/>
                <a:cs typeface="苹方 常规" panose="020B0300000000000000" charset="-122"/>
              </a:rPr>
              <a:t>前入賬到客戶錢包</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p>
        </p:txBody>
      </p:sp>
      <p:sp>
        <p:nvSpPr>
          <p:cNvPr id="9" name="object 9"/>
          <p:cNvSpPr txBox="1"/>
          <p:nvPr/>
        </p:nvSpPr>
        <p:spPr>
          <a:xfrm>
            <a:off x="526795" y="9201404"/>
            <a:ext cx="1917064" cy="179070"/>
          </a:xfrm>
          <a:prstGeom prst="rect">
            <a:avLst/>
          </a:prstGeom>
        </p:spPr>
        <p:txBody>
          <a:bodyPr vert="horz" wrap="square" lIns="0" tIns="13335" rIns="0" bIns="0" rtlCol="0">
            <a:spAutoFit/>
          </a:bodyPr>
          <a:lstStyle/>
          <a:p>
            <a:pPr marL="12700">
              <a:lnSpc>
                <a:spcPct val="100000"/>
              </a:lnSpc>
              <a:spcBef>
                <a:spcPts val="105"/>
              </a:spcBef>
            </a:pPr>
            <a:r>
              <a:rPr sz="1000" spc="-5" dirty="0">
                <a:solidFill>
                  <a:srgbClr val="948980"/>
                </a:solidFill>
                <a:latin typeface="苹方 常规" panose="020B0300000000000000" charset="-122"/>
                <a:ea typeface="苹方 常规" panose="020B0300000000000000" charset="-122"/>
                <a:cs typeface="苹方 常规" panose="020B0300000000000000" charset="-122"/>
              </a:rPr>
              <a:t>**優惠須受有關條款及細則約束。</a:t>
            </a:r>
          </a:p>
        </p:txBody>
      </p:sp>
      <p:pic>
        <p:nvPicPr>
          <p:cNvPr id="12" name="图片 11" descr="图标&#10;&#10;中度可信度描述已自动生成">
            <a:extLst>
              <a:ext uri="{FF2B5EF4-FFF2-40B4-BE49-F238E27FC236}">
                <a16:creationId xmlns:a16="http://schemas.microsoft.com/office/drawing/2014/main" id="{025B3D50-310A-4C4B-F521-B5FCC683E5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2570" y="654030"/>
            <a:ext cx="1992303" cy="537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2543" y="542588"/>
            <a:ext cx="97790" cy="222885"/>
          </a:xfrm>
          <a:prstGeom prst="rect">
            <a:avLst/>
          </a:prstGeom>
        </p:spPr>
        <p:txBody>
          <a:bodyPr vert="horz" wrap="square" lIns="0" tIns="0" rIns="0" bIns="0" rtlCol="0">
            <a:spAutoFit/>
          </a:bodyPr>
          <a:lstStyle/>
          <a:p>
            <a:pPr>
              <a:lnSpc>
                <a:spcPts val="1740"/>
              </a:lnSpc>
            </a:pPr>
            <a:r>
              <a:rPr sz="1500" spc="5" dirty="0">
                <a:solidFill>
                  <a:srgbClr val="CCBDAD"/>
                </a:solidFill>
                <a:latin typeface="苹方 常规" panose="020B0300000000000000" charset="-122"/>
                <a:ea typeface="苹方 常规" panose="020B0300000000000000" charset="-122"/>
                <a:cs typeface="Calibri" panose="020F0502020204030204"/>
              </a:rPr>
              <a:t>3</a:t>
            </a:r>
          </a:p>
        </p:txBody>
      </p:sp>
      <p:sp>
        <p:nvSpPr>
          <p:cNvPr id="3" name="object 3"/>
          <p:cNvSpPr/>
          <p:nvPr/>
        </p:nvSpPr>
        <p:spPr>
          <a:xfrm>
            <a:off x="5991225" y="408938"/>
            <a:ext cx="1223648" cy="330834"/>
          </a:xfrm>
          <a:prstGeom prst="rect">
            <a:avLst/>
          </a:prstGeom>
          <a:blipFill>
            <a:blip r:embed="rId2" cstate="print"/>
            <a:stretch>
              <a:fillRect/>
            </a:stretch>
          </a:blipFill>
        </p:spPr>
        <p:txBody>
          <a:bodyPr wrap="square" lIns="0" tIns="0" rIns="0" bIns="0" rtlCol="0"/>
          <a:lstStyle/>
          <a:p>
            <a:endParaRPr>
              <a:latin typeface="苹方 常规" panose="020B0300000000000000" charset="-122"/>
              <a:ea typeface="苹方 常规" panose="020B0300000000000000" charset="-122"/>
            </a:endParaRPr>
          </a:p>
        </p:txBody>
      </p:sp>
      <p:sp>
        <p:nvSpPr>
          <p:cNvPr id="4" name="object 4"/>
          <p:cNvSpPr/>
          <p:nvPr/>
        </p:nvSpPr>
        <p:spPr>
          <a:xfrm>
            <a:off x="0" y="0"/>
            <a:ext cx="7772400" cy="10058400"/>
          </a:xfrm>
          <a:prstGeom prst="rect">
            <a:avLst/>
          </a:prstGeom>
          <a:blipFill>
            <a:blip r:embed="rId3" cstate="print"/>
            <a:stretch>
              <a:fillRect/>
            </a:stretch>
          </a:blipFill>
        </p:spPr>
        <p:txBody>
          <a:bodyPr wrap="square" lIns="0" tIns="0" rIns="0" bIns="0" rtlCol="0"/>
          <a:lstStyle/>
          <a:p>
            <a:endParaRPr>
              <a:latin typeface="苹方 常规" panose="020B0300000000000000" charset="-122"/>
              <a:ea typeface="苹方 常规" panose="020B0300000000000000" charset="-122"/>
            </a:endParaRPr>
          </a:p>
        </p:txBody>
      </p:sp>
      <p:sp>
        <p:nvSpPr>
          <p:cNvPr id="5" name="object 5"/>
          <p:cNvSpPr txBox="1"/>
          <p:nvPr/>
        </p:nvSpPr>
        <p:spPr>
          <a:xfrm>
            <a:off x="526795" y="3507740"/>
            <a:ext cx="5636895" cy="2030095"/>
          </a:xfrm>
          <a:prstGeom prst="rect">
            <a:avLst/>
          </a:prstGeom>
        </p:spPr>
        <p:txBody>
          <a:bodyPr vert="horz" wrap="square" lIns="0" tIns="13970" rIns="0" bIns="0" rtlCol="0">
            <a:spAutoFit/>
          </a:bodyPr>
          <a:lstStyle/>
          <a:p>
            <a:pPr marL="12700">
              <a:lnSpc>
                <a:spcPct val="100000"/>
              </a:lnSpc>
              <a:spcBef>
                <a:spcPts val="1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**複利獎賞計劃規則和條款如下</a:t>
            </a:r>
            <a:r>
              <a:rPr sz="900" b="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17475" indent="-105410">
              <a:lnSpc>
                <a:spcPct val="100000"/>
              </a:lnSpc>
              <a:spcBef>
                <a:spcPts val="1010"/>
              </a:spcBef>
              <a:buAutoNum type="arabicPeriod"/>
              <a:tabLst>
                <a:tab pos="118110"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本產品非存款或理財產品，⾦融衍⽣品投資需謹慎對待可能的產品風險</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30"/>
              </a:spcBef>
              <a:buAutoNum type="arabicPeriod"/>
              <a:tabLst>
                <a:tab pos="13779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本產品過往表現不代表其未來表現，不構成任何盈利或分潤之承諾保證。</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10"/>
              </a:spcBef>
              <a:buAutoNum type="arabicPeriod"/>
              <a:tabLst>
                <a:tab pos="13779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本產品所涉獎賞部分⾦額為每⽇結算時賬⼾當時可⽤保證⾦數額，不涉及賬⼾本⾦，亦不保證投資收益。</a:t>
            </a:r>
            <a:endParaRPr sz="900" dirty="0">
              <a:latin typeface="苹方 常规" panose="020B0300000000000000" charset="-122"/>
              <a:ea typeface="苹方 常规" panose="020B0300000000000000" charset="-122"/>
              <a:cs typeface="苹方 常规" panose="020B0300000000000000" charset="-122"/>
            </a:endParaRPr>
          </a:p>
          <a:p>
            <a:pPr marL="139065" indent="-127000">
              <a:lnSpc>
                <a:spcPct val="100000"/>
              </a:lnSpc>
              <a:spcBef>
                <a:spcPts val="1030"/>
              </a:spcBef>
              <a:buAutoNum type="arabicPeriod"/>
              <a:tabLst>
                <a:tab pos="139700"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本產品不涉及任何持倉訂單的變化，您的本⾦任可能會因市場變動⽽蒙受損失</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10"/>
              </a:spcBef>
              <a:buAutoNum type="arabicPeriod"/>
              <a:tabLst>
                <a:tab pos="13779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詳細風險提⽰及具體產品信息，請仔細閱讀本網站風險披露及產品介紹。您應充分認識投資風險，謹慎投資。</a:t>
            </a:r>
            <a:endParaRPr sz="900" dirty="0">
              <a:latin typeface="苹方 常规" panose="020B0300000000000000" charset="-122"/>
              <a:ea typeface="苹方 常规" panose="020B0300000000000000" charset="-122"/>
              <a:cs typeface="苹方 常规" panose="020B0300000000000000" charset="-122"/>
            </a:endParaRPr>
          </a:p>
          <a:p>
            <a:pPr marL="137160" indent="-125095">
              <a:lnSpc>
                <a:spcPct val="100000"/>
              </a:lnSpc>
              <a:spcBef>
                <a:spcPts val="1030"/>
              </a:spcBef>
              <a:buAutoNum type="arabicPeriod"/>
              <a:tabLst>
                <a:tab pos="137795"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本優惠之複利和最⾼⾦額乃本公司酌情釐定，複利是浮動的，如有更改⽽無須另⾏通知</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a:p>
            <a:pPr marL="135255" indent="-123190">
              <a:lnSpc>
                <a:spcPct val="100000"/>
              </a:lnSpc>
              <a:spcBef>
                <a:spcPts val="1010"/>
              </a:spcBef>
              <a:buAutoNum type="arabicPeriod"/>
              <a:tabLst>
                <a:tab pos="135890" algn="l"/>
              </a:tabLst>
            </a:pPr>
            <a:r>
              <a:rPr sz="900" b="0" spc="-5" dirty="0">
                <a:solidFill>
                  <a:srgbClr val="948980"/>
                </a:solidFill>
                <a:latin typeface="苹方 常规" panose="020B0300000000000000" charset="-122"/>
                <a:ea typeface="苹方 常规" panose="020B0300000000000000" charset="-122"/>
                <a:cs typeface="苹方 常规" panose="020B0300000000000000" charset="-122"/>
              </a:rPr>
              <a:t>如有任何爭議，IEXS</a:t>
            </a:r>
            <a:r>
              <a:rPr sz="900" b="0" spc="-1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集團保留最終決定權</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dirty="0">
              <a:latin typeface="苹方 常规" panose="020B0300000000000000" charset="-122"/>
              <a:ea typeface="苹方 常规" panose="020B0300000000000000" charset="-122"/>
              <a:cs typeface="苹方 常规" panose="020B0300000000000000" charset="-122"/>
            </a:endParaRPr>
          </a:p>
        </p:txBody>
      </p:sp>
      <p:sp>
        <p:nvSpPr>
          <p:cNvPr id="6" name="object 6"/>
          <p:cNvSpPr txBox="1"/>
          <p:nvPr/>
        </p:nvSpPr>
        <p:spPr>
          <a:xfrm>
            <a:off x="526795" y="5906516"/>
            <a:ext cx="6010275" cy="697865"/>
          </a:xfrm>
          <a:prstGeom prst="rect">
            <a:avLst/>
          </a:prstGeom>
        </p:spPr>
        <p:txBody>
          <a:bodyPr vert="horz" wrap="square" lIns="0" tIns="13970" rIns="0" bIns="0" rtlCol="0">
            <a:spAutoFit/>
          </a:bodyPr>
          <a:lstStyle/>
          <a:p>
            <a:pPr marL="12700">
              <a:lnSpc>
                <a:spcPct val="100000"/>
              </a:lnSpc>
              <a:spcBef>
                <a:spcPts val="1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⾼風險投資警告：差價合約是⼀種複雜的⼯具，由於槓桿作⽤，存在快速虧損的⾼風險。與該提供商交易差價合約時，</a:t>
            </a:r>
            <a:endParaRPr sz="900">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30"/>
              </a:spcBef>
            </a:pPr>
            <a:r>
              <a:rPr sz="900" b="0" spc="10" dirty="0">
                <a:solidFill>
                  <a:srgbClr val="948980"/>
                </a:solidFill>
                <a:latin typeface="苹方 常规" panose="020B0300000000000000" charset="-122"/>
                <a:ea typeface="苹方 常规" panose="020B0300000000000000" charset="-122"/>
                <a:cs typeface="苹方 常规" panose="020B0300000000000000" charset="-122"/>
              </a:rPr>
              <a:t>有</a:t>
            </a:r>
            <a:r>
              <a:rPr sz="900" b="0" spc="-55"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67％的零售客户賬⼾虧損。您應該考慮是否了解差價合約的運作⽅式，以及是否有能⼒承受蒙受損失所有投入資⾦</a:t>
            </a:r>
            <a:r>
              <a:rPr sz="900" b="0" spc="10" dirty="0">
                <a:solidFill>
                  <a:srgbClr val="948980"/>
                </a:solidFill>
                <a:latin typeface="苹方 常规" panose="020B0300000000000000" charset="-122"/>
                <a:ea typeface="苹方 常规" panose="020B0300000000000000" charset="-122"/>
                <a:cs typeface="苹方 常规" panose="020B0300000000000000" charset="-122"/>
              </a:rPr>
              <a:t>的</a:t>
            </a:r>
            <a:endParaRPr sz="900">
              <a:latin typeface="苹方 常规" panose="020B0300000000000000" charset="-122"/>
              <a:ea typeface="苹方 常规" panose="020B0300000000000000" charset="-122"/>
              <a:cs typeface="苹方 常规" panose="020B0300000000000000" charset="-122"/>
            </a:endParaRPr>
          </a:p>
          <a:p>
            <a:pPr marL="12700">
              <a:lnSpc>
                <a:spcPct val="100000"/>
              </a:lnSpc>
              <a:spcBef>
                <a:spcPts val="1010"/>
              </a:spcBef>
            </a:pPr>
            <a:r>
              <a:rPr sz="900" b="0" spc="-5" dirty="0">
                <a:solidFill>
                  <a:srgbClr val="948980"/>
                </a:solidFill>
                <a:latin typeface="苹方 常规" panose="020B0300000000000000" charset="-122"/>
                <a:ea typeface="苹方 常规" panose="020B0300000000000000" charset="-122"/>
                <a:cs typeface="苹方 常规" panose="020B0300000000000000" charset="-122"/>
              </a:rPr>
              <a:t>⾼風險。有關更多信息，請參</a:t>
            </a:r>
            <a:r>
              <a:rPr sz="900" b="0" spc="10" dirty="0">
                <a:solidFill>
                  <a:srgbClr val="948980"/>
                </a:solidFill>
                <a:latin typeface="苹方 常规" panose="020B0300000000000000" charset="-122"/>
                <a:ea typeface="苹方 常规" panose="020B0300000000000000" charset="-122"/>
                <a:cs typeface="苹方 常规" panose="020B0300000000000000" charset="-122"/>
              </a:rPr>
              <a:t>閱</a:t>
            </a:r>
            <a:r>
              <a:rPr sz="900" b="0" spc="-6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IEXS</a:t>
            </a:r>
            <a:r>
              <a:rPr sz="900" b="0" spc="-50" dirty="0">
                <a:solidFill>
                  <a:srgbClr val="948980"/>
                </a:solidFill>
                <a:latin typeface="苹方 常规" panose="020B0300000000000000" charset="-122"/>
                <a:ea typeface="苹方 常规" panose="020B0300000000000000" charset="-122"/>
                <a:cs typeface="苹方 常规" panose="020B0300000000000000" charset="-122"/>
              </a:rPr>
              <a:t> </a:t>
            </a:r>
            <a:r>
              <a:rPr sz="900" b="0" spc="-5" dirty="0">
                <a:solidFill>
                  <a:srgbClr val="948980"/>
                </a:solidFill>
                <a:latin typeface="苹方 常规" panose="020B0300000000000000" charset="-122"/>
                <a:ea typeface="苹方 常规" panose="020B0300000000000000" charset="-122"/>
                <a:cs typeface="苹方 常规" panose="020B0300000000000000" charset="-122"/>
              </a:rPr>
              <a:t>的風險披露通知</a:t>
            </a:r>
            <a:r>
              <a:rPr sz="900" b="0" spc="10" dirty="0">
                <a:solidFill>
                  <a:srgbClr val="948980"/>
                </a:solidFill>
                <a:latin typeface="苹方 常规" panose="020B0300000000000000" charset="-122"/>
                <a:ea typeface="苹方 常规" panose="020B0300000000000000" charset="-122"/>
                <a:cs typeface="苹方 常规" panose="020B0300000000000000" charset="-122"/>
              </a:rPr>
              <a:t>。</a:t>
            </a:r>
            <a:endParaRPr sz="900">
              <a:latin typeface="苹方 常规" panose="020B0300000000000000" charset="-122"/>
              <a:ea typeface="苹方 常规" panose="020B0300000000000000" charset="-122"/>
              <a:cs typeface="苹方 常规" panose="020B0300000000000000" charset="-122"/>
            </a:endParaRPr>
          </a:p>
        </p:txBody>
      </p:sp>
      <p:pic>
        <p:nvPicPr>
          <p:cNvPr id="8" name="图片 7" descr="图标&#10;&#10;中度可信度描述已自动生成">
            <a:extLst>
              <a:ext uri="{FF2B5EF4-FFF2-40B4-BE49-F238E27FC236}">
                <a16:creationId xmlns:a16="http://schemas.microsoft.com/office/drawing/2014/main" id="{5BC7129D-67CD-D77A-0C7C-4E2EC3E9CC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2570" y="654030"/>
            <a:ext cx="1992303" cy="537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2543" y="542588"/>
            <a:ext cx="97790" cy="222885"/>
          </a:xfrm>
          <a:prstGeom prst="rect">
            <a:avLst/>
          </a:prstGeom>
        </p:spPr>
        <p:txBody>
          <a:bodyPr vert="horz" wrap="square" lIns="0" tIns="0" rIns="0" bIns="0" rtlCol="0">
            <a:spAutoFit/>
          </a:bodyPr>
          <a:lstStyle/>
          <a:p>
            <a:pPr>
              <a:lnSpc>
                <a:spcPts val="1740"/>
              </a:lnSpc>
            </a:pPr>
            <a:r>
              <a:rPr sz="1500" spc="5" dirty="0">
                <a:solidFill>
                  <a:srgbClr val="CCBDAD"/>
                </a:solidFill>
                <a:latin typeface="苹方 常规" panose="020B0300000000000000" charset="-122"/>
                <a:ea typeface="苹方 常规" panose="020B0300000000000000" charset="-122"/>
                <a:cs typeface="Calibri" panose="020F0502020204030204"/>
              </a:rPr>
              <a:t>8</a:t>
            </a:r>
          </a:p>
        </p:txBody>
      </p:sp>
      <p:sp>
        <p:nvSpPr>
          <p:cNvPr id="3" name="object 3"/>
          <p:cNvSpPr/>
          <p:nvPr/>
        </p:nvSpPr>
        <p:spPr>
          <a:xfrm>
            <a:off x="5991225" y="408938"/>
            <a:ext cx="1223648" cy="330834"/>
          </a:xfrm>
          <a:prstGeom prst="rect">
            <a:avLst/>
          </a:prstGeom>
          <a:blipFill>
            <a:blip r:embed="rId2" cstate="print"/>
            <a:stretch>
              <a:fillRect/>
            </a:stretch>
          </a:blipFill>
        </p:spPr>
        <p:txBody>
          <a:bodyPr wrap="square" lIns="0" tIns="0" rIns="0" bIns="0" rtlCol="0"/>
          <a:lstStyle/>
          <a:p>
            <a:endParaRPr>
              <a:latin typeface="苹方 常规" panose="020B0300000000000000" charset="-122"/>
              <a:ea typeface="苹方 常规" panose="020B0300000000000000" charset="-122"/>
            </a:endParaRPr>
          </a:p>
        </p:txBody>
      </p:sp>
      <p:sp>
        <p:nvSpPr>
          <p:cNvPr id="4" name="object 4"/>
          <p:cNvSpPr/>
          <p:nvPr/>
        </p:nvSpPr>
        <p:spPr>
          <a:xfrm>
            <a:off x="8255" y="336569"/>
            <a:ext cx="7764146" cy="9721830"/>
          </a:xfrm>
          <a:prstGeom prst="rect">
            <a:avLst/>
          </a:prstGeom>
          <a:blipFill>
            <a:blip r:embed="rId3" cstate="print"/>
            <a:stretch>
              <a:fillRect/>
            </a:stretch>
          </a:blipFill>
        </p:spPr>
        <p:txBody>
          <a:bodyPr wrap="square" lIns="0" tIns="0" rIns="0" bIns="0" rtlCol="0"/>
          <a:lstStyle/>
          <a:p>
            <a:endParaRPr>
              <a:solidFill>
                <a:srgbClr val="CDB294"/>
              </a:solidFill>
              <a:latin typeface="苹方 常规" panose="020B0300000000000000" charset="-122"/>
              <a:ea typeface="苹方 常规" panose="020B0300000000000000" charset="-122"/>
            </a:endParaRPr>
          </a:p>
        </p:txBody>
      </p:sp>
      <p:sp>
        <p:nvSpPr>
          <p:cNvPr id="5" name="object 4">
            <a:extLst>
              <a:ext uri="{FF2B5EF4-FFF2-40B4-BE49-F238E27FC236}">
                <a16:creationId xmlns:a16="http://schemas.microsoft.com/office/drawing/2014/main" id="{A679DD1C-0677-DC44-E4BB-381B3F6DB5E2}"/>
              </a:ext>
            </a:extLst>
          </p:cNvPr>
          <p:cNvSpPr txBox="1"/>
          <p:nvPr/>
        </p:nvSpPr>
        <p:spPr>
          <a:xfrm>
            <a:off x="526288" y="4800600"/>
            <a:ext cx="6718934" cy="556895"/>
          </a:xfrm>
          <a:prstGeom prst="rect">
            <a:avLst/>
          </a:prstGeom>
        </p:spPr>
        <p:txBody>
          <a:bodyPr vert="horz" wrap="square" lIns="0" tIns="12700" rIns="0" bIns="0" rtlCol="0">
            <a:spAutoFit/>
          </a:bodyPr>
          <a:lstStyle/>
          <a:p>
            <a:pPr marL="12700" marR="5080" algn="just">
              <a:lnSpc>
                <a:spcPct val="139000"/>
              </a:lnSpc>
              <a:spcBef>
                <a:spcPts val="100"/>
              </a:spcBef>
            </a:pP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風險警示</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交易外匯和杠杆化金融品種具有高風險，可能導致您損失本金。您所承擔的虧損風險不應超過您的承受能力，請確保您完全</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理解</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其中所涉的風險。交易杠杆化產品並不適合所有投資者。在交易前，請考慮您的經驗水準、投資目標，如有必要請尋求獨立財務建議。客戶</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有責任</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確</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保他</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她所居</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住</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國法</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要求允</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許</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其使</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用</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品</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牌</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提供</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服務。</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請</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閱讀</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風險披</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露</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全</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6" name="object 6">
            <a:extLst>
              <a:ext uri="{FF2B5EF4-FFF2-40B4-BE49-F238E27FC236}">
                <a16:creationId xmlns:a16="http://schemas.microsoft.com/office/drawing/2014/main" id="{ED92237A-3CC9-998D-BA13-5B50528E8235}"/>
              </a:ext>
            </a:extLst>
          </p:cNvPr>
          <p:cNvSpPr txBox="1"/>
          <p:nvPr/>
        </p:nvSpPr>
        <p:spPr>
          <a:xfrm>
            <a:off x="526288" y="6032599"/>
            <a:ext cx="3168650" cy="553085"/>
          </a:xfrm>
          <a:prstGeom prst="rect">
            <a:avLst/>
          </a:prstGeom>
        </p:spPr>
        <p:txBody>
          <a:bodyPr vert="horz" wrap="square" lIns="0" tIns="12700" rIns="0" bIns="0" rtlCol="0">
            <a:spAutoFit/>
          </a:bodyPr>
          <a:lstStyle/>
          <a:p>
            <a:pPr marL="12700" marR="5080" algn="just">
              <a:lnSpc>
                <a:spcPct val="138000"/>
              </a:lnSpc>
              <a:spcBef>
                <a:spcPts val="100"/>
              </a:spcBef>
              <a:buChar char="●"/>
              <a:tabLst>
                <a:tab pos="109855" algn="l"/>
              </a:tabLst>
            </a:pP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(SV)</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其註冊</a:t>
            </a:r>
            <a:r>
              <a:rPr lang="zh-CN" alt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址為</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First Floor, First St Vincent Bank</a:t>
            </a:r>
            <a:r>
              <a:rPr 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Ltd  Building,</a:t>
            </a:r>
            <a:r>
              <a:rPr lang="en-US" sz="850" b="0" spc="-6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James</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Street,</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Kingstown,</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St.</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Vincent</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and</a:t>
            </a:r>
            <a:r>
              <a:rPr lang="en-US" sz="850" b="0" spc="-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lang="en-US" sz="850" b="0" spc="-6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Grenadines.  </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註冊編</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號</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為</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282</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 2020.</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7" name="object 8">
            <a:extLst>
              <a:ext uri="{FF2B5EF4-FFF2-40B4-BE49-F238E27FC236}">
                <a16:creationId xmlns:a16="http://schemas.microsoft.com/office/drawing/2014/main" id="{FA903D32-D110-268D-9F71-584709122342}"/>
              </a:ext>
            </a:extLst>
          </p:cNvPr>
          <p:cNvSpPr txBox="1"/>
          <p:nvPr/>
        </p:nvSpPr>
        <p:spPr>
          <a:xfrm>
            <a:off x="4076829" y="6032599"/>
            <a:ext cx="3431780" cy="375743"/>
          </a:xfrm>
          <a:prstGeom prst="rect">
            <a:avLst/>
          </a:prstGeom>
        </p:spPr>
        <p:txBody>
          <a:bodyPr vert="horz" wrap="square" lIns="0" tIns="62229" rIns="0" bIns="0" rtlCol="0">
            <a:spAutoFit/>
          </a:bodyPr>
          <a:lstStyle/>
          <a:p>
            <a:pPr marL="140335" indent="-128270">
              <a:lnSpc>
                <a:spcPct val="100000"/>
              </a:lnSpc>
              <a:spcBef>
                <a:spcPts val="490"/>
              </a:spcBef>
              <a:buChar char="●"/>
              <a:tabLst>
                <a:tab pos="140970" algn="l"/>
              </a:tabLst>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229"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Group</a:t>
            </a:r>
            <a:r>
              <a:rPr sz="850" b="0" spc="22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Ltd</a:t>
            </a:r>
            <a:r>
              <a:rPr sz="850" b="0" spc="2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(BVI)</a:t>
            </a:r>
            <a:r>
              <a:rPr sz="850" b="0" spc="229"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根</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據</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英屬維</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爾</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京</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群</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島商業</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spc="12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spc="12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lang="en-US" sz="850" dirty="0">
              <a:latin typeface="苹方 常规" panose="020B0300000000000000" pitchFamily="34" charset="-122"/>
              <a:ea typeface="苹方 常规" panose="020B0300000000000000" pitchFamily="34" charset="-122"/>
              <a:cs typeface="苹方 常规" panose="020B0300000000000000" charset="-122"/>
            </a:endParaRPr>
          </a:p>
          <a:p>
            <a:pPr marL="12700">
              <a:lnSpc>
                <a:spcPct val="100000"/>
              </a:lnSpc>
              <a:spcBef>
                <a:spcPts val="390"/>
              </a:spcBef>
            </a:pPr>
            <a:r>
              <a:rPr lang="en-US"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Intershore</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Chambers, Road Town, Tortola, British Virgin</a:t>
            </a:r>
            <a:r>
              <a:rPr lang="en-US" sz="850" b="0" spc="5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Islands.</a:t>
            </a:r>
            <a:endParaRPr lang="en-US"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8" name="object 9">
            <a:extLst>
              <a:ext uri="{FF2B5EF4-FFF2-40B4-BE49-F238E27FC236}">
                <a16:creationId xmlns:a16="http://schemas.microsoft.com/office/drawing/2014/main" id="{548EE2F8-F226-4F00-BB61-43CEB6769815}"/>
              </a:ext>
            </a:extLst>
          </p:cNvPr>
          <p:cNvSpPr txBox="1"/>
          <p:nvPr/>
        </p:nvSpPr>
        <p:spPr>
          <a:xfrm>
            <a:off x="527233" y="7316740"/>
            <a:ext cx="6767442" cy="2011680"/>
          </a:xfrm>
          <a:prstGeom prst="rect">
            <a:avLst/>
          </a:prstGeom>
        </p:spPr>
        <p:txBody>
          <a:bodyPr vert="horz" wrap="square" lIns="0" tIns="12700" rIns="0" bIns="0" rtlCol="0">
            <a:spAutoFit/>
          </a:bodyPr>
          <a:lstStyle/>
          <a:p>
            <a:pPr marL="12700" marR="5080" algn="just">
              <a:lnSpc>
                <a:spcPct val="138000"/>
              </a:lnSpc>
              <a:spcBef>
                <a:spcPts val="100"/>
              </a:spcBef>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管</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制</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1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是</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在聖</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森</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特</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和</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格</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林</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丁斯</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立</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責任</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注</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號為</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282</a:t>
            </a:r>
            <a:r>
              <a:rPr sz="850" b="0" spc="1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LLC2020,</a:t>
            </a:r>
            <a:r>
              <a:rPr sz="850" b="0" spc="1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本</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公</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根</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據</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聖文</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森</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特</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和</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格</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林</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納丁</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斯</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律</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限責任公</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司</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修訂版</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第</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151</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章,</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Companies</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Act,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Chapter</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151</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of</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Revised</a:t>
            </a:r>
            <a:r>
              <a:rPr sz="850" b="0" spc="3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Law</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of</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Saint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Vincent</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and</a:t>
            </a:r>
            <a:r>
              <a:rPr sz="850" b="0" spc="2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the</a:t>
            </a:r>
            <a:r>
              <a:rPr sz="850" b="0" spc="3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Grenadines,2009</a:t>
            </a:r>
            <a:r>
              <a:rPr sz="850" b="0" spc="4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經營</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尤其但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僅</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限</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於所</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融，</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貸</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款</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借</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款</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，貿</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易</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務</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動以</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參</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與</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他</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企業</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以</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提</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外</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滙</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差</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價</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合</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約和</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杠</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杆</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融</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工</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具，</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大</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宗</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商</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品</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股票指數。</a:t>
            </a:r>
            <a:endParaRPr sz="850" dirty="0">
              <a:latin typeface="苹方 常规" panose="020B0300000000000000" pitchFamily="34" charset="-122"/>
              <a:ea typeface="苹方 常规" panose="020B0300000000000000" pitchFamily="34" charset="-122"/>
              <a:cs typeface="苹方 常规" panose="020B0300000000000000" charset="-122"/>
            </a:endParaRPr>
          </a:p>
          <a:p>
            <a:pPr>
              <a:lnSpc>
                <a:spcPct val="100000"/>
              </a:lnSpc>
              <a:spcBef>
                <a:spcPts val="35"/>
              </a:spcBef>
            </a:pPr>
            <a:endParaRPr sz="1200" dirty="0">
              <a:latin typeface="苹方 常规" panose="020B0300000000000000" pitchFamily="34" charset="-122"/>
              <a:ea typeface="苹方 常规" panose="020B0300000000000000" pitchFamily="34" charset="-122"/>
              <a:cs typeface="苹方 常规" panose="020B0300000000000000" charset="-122"/>
            </a:endParaRPr>
          </a:p>
          <a:p>
            <a:pPr marL="12700" marR="6350" indent="-635" algn="just">
              <a:lnSpc>
                <a:spcPct val="138000"/>
              </a:lnSpc>
            </a:pP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免責聲明：此</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頁</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面的內容僅供</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參</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考，不作為建</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議</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或建議</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發佈的廣告中</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包</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含的任何有關</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過</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去表現或模擬</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過</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去表現的指示</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都</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不是未來結果</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的可靠</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指</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標。</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對</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於在</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證券</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進</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行的所</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業務</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或</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投資，</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客</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戶承</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擔</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全部責</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a:p>
            <a:pPr>
              <a:lnSpc>
                <a:spcPct val="100000"/>
              </a:lnSpc>
              <a:spcBef>
                <a:spcPts val="30"/>
              </a:spcBef>
            </a:pPr>
            <a:endParaRPr sz="1200" dirty="0">
              <a:latin typeface="苹方 常规" panose="020B0300000000000000" pitchFamily="34" charset="-122"/>
              <a:ea typeface="苹方 常规" panose="020B0300000000000000" pitchFamily="34" charset="-122"/>
              <a:cs typeface="苹方 常规" panose="020B0300000000000000" charset="-122"/>
            </a:endParaRPr>
          </a:p>
          <a:p>
            <a:pPr marL="12700" marR="78740" algn="just">
              <a:lnSpc>
                <a:spcPct val="138000"/>
              </a:lnSpc>
            </a:pP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IEXS</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sz="850" b="0" spc="-5"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LLC</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不向</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某</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些司法</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管</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轄區</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居民提</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服務</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包括美</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國</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、伊</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朗</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、朝鮮</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古巴</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伊拉克</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敘利</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亞</a:t>
            </a:r>
            <a:r>
              <a:rPr lang="zh-CN" altLang="en-US" sz="85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加拿</a:t>
            </a:r>
            <a:r>
              <a:rPr sz="850" b="0" spc="-10" dirty="0" err="1">
                <a:solidFill>
                  <a:srgbClr val="4A443E"/>
                </a:solidFill>
                <a:latin typeface="苹方 常规" panose="020B0300000000000000" pitchFamily="34" charset="-122"/>
                <a:ea typeface="苹方 常规" panose="020B0300000000000000" pitchFamily="34" charset="-122"/>
                <a:cs typeface="苹方 常规" panose="020B0300000000000000" charset="-122"/>
              </a:rPr>
              <a:t>大</a:t>
            </a:r>
            <a:r>
              <a:rPr lang="zh-CN" altLang="en-US"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和中國台灣</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本</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內容資</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不向</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身</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處與發</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布</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或使用該資</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訊</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有違</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當</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地法律</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規的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國</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家或管</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轄</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地之</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人</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發送或</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其使</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用</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。敬請</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注</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意</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文語言</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務並</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保證在</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何時</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候</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均能提</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供</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。英</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語</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是我們</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服</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務所使用的</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主</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要語</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言</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，亦是</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我</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們所</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有</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合同檔</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中</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具有</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法</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律效力</a:t>
            </a:r>
            <a:r>
              <a:rPr sz="850" b="0" spc="-1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的</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語言。</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9" name="object 6">
            <a:extLst>
              <a:ext uri="{FF2B5EF4-FFF2-40B4-BE49-F238E27FC236}">
                <a16:creationId xmlns:a16="http://schemas.microsoft.com/office/drawing/2014/main" id="{76A04986-596C-19F3-6F1E-312209325FFE}"/>
              </a:ext>
            </a:extLst>
          </p:cNvPr>
          <p:cNvSpPr txBox="1"/>
          <p:nvPr/>
        </p:nvSpPr>
        <p:spPr>
          <a:xfrm>
            <a:off x="526288" y="5486400"/>
            <a:ext cx="3169285" cy="362792"/>
          </a:xfrm>
          <a:prstGeom prst="rect">
            <a:avLst/>
          </a:prstGeom>
        </p:spPr>
        <p:txBody>
          <a:bodyPr vert="horz" wrap="square" lIns="0" tIns="12700" rIns="0" bIns="0" rtlCol="0">
            <a:spAutoFit/>
          </a:bodyPr>
          <a:lstStyle/>
          <a:p>
            <a:pPr marL="12700" marR="5080" algn="just">
              <a:lnSpc>
                <a:spcPct val="139000"/>
              </a:lnSpc>
              <a:spcBef>
                <a:spcPts val="100"/>
              </a:spcBef>
              <a:buChar char="●"/>
              <a:tabLst>
                <a:tab pos="106045" algn="l"/>
              </a:tabLst>
            </a:pPr>
            <a:r>
              <a:rPr 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VIEXS-Vision Intergrated Exchange LTD</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altLang="zh-CN"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UK</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zh-CN" alt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由英國金融行爲監管局（</a:t>
            </a:r>
            <a:r>
              <a:rPr lang="en-US" altLang="zh-CN"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FCA</a:t>
            </a:r>
            <a:r>
              <a:rPr lang="zh-CN" altLang="en-US"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）授權並受其監管</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r>
              <a:rPr 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FCA</a:t>
            </a:r>
            <a:r>
              <a:rPr lang="zh-CN" altLang="en-US"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許可證號碼</a:t>
            </a:r>
            <a:r>
              <a:rPr sz="850" b="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為</a:t>
            </a:r>
            <a:r>
              <a:rPr sz="850" b="0" spc="-2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a:t>
            </a:r>
            <a:r>
              <a:rPr lang="en-US" sz="850" b="0" spc="-2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923324</a:t>
            </a:r>
            <a:r>
              <a:rPr sz="850" b="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10" name="object 6">
            <a:extLst>
              <a:ext uri="{FF2B5EF4-FFF2-40B4-BE49-F238E27FC236}">
                <a16:creationId xmlns:a16="http://schemas.microsoft.com/office/drawing/2014/main" id="{8E39CA7E-A860-ED82-5D80-2EA99ACE938C}"/>
              </a:ext>
            </a:extLst>
          </p:cNvPr>
          <p:cNvSpPr txBox="1"/>
          <p:nvPr/>
        </p:nvSpPr>
        <p:spPr>
          <a:xfrm>
            <a:off x="4076829" y="5492646"/>
            <a:ext cx="3169285" cy="362792"/>
          </a:xfrm>
          <a:prstGeom prst="rect">
            <a:avLst/>
          </a:prstGeom>
        </p:spPr>
        <p:txBody>
          <a:bodyPr vert="horz" wrap="square" lIns="0" tIns="12700" rIns="0" bIns="0" rtlCol="0">
            <a:spAutoFit/>
          </a:bodyPr>
          <a:lstStyle/>
          <a:p>
            <a:pPr marL="12700" marR="5080" algn="just">
              <a:lnSpc>
                <a:spcPct val="139000"/>
              </a:lnSpc>
              <a:spcBef>
                <a:spcPts val="100"/>
              </a:spcBef>
              <a:buChar char="●"/>
              <a:tabLst>
                <a:tab pos="106045" algn="l"/>
              </a:tabLst>
            </a:pP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IEXS MARKETS PTY LTD (AUS)</a:t>
            </a:r>
            <a:r>
              <a:rPr lang="zh-TW" altLang="en-US"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由澳大利亞證券和投資委員會（</a:t>
            </a: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ASIC</a:t>
            </a:r>
            <a:r>
              <a:rPr lang="zh-TW" altLang="en-US"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）授權並受其監管，監管號碼為</a:t>
            </a:r>
            <a:r>
              <a:rPr lang="en-US" altLang="zh-TW" sz="850" dirty="0">
                <a:solidFill>
                  <a:srgbClr val="4A443E"/>
                </a:solidFill>
                <a:latin typeface="苹方 常规" panose="020B0300000000000000" pitchFamily="34" charset="-122"/>
                <a:ea typeface="苹方 常规" panose="020B0300000000000000" pitchFamily="34" charset="-122"/>
                <a:cs typeface="苹方 常规" panose="020B0300000000000000" charset="-122"/>
              </a:rPr>
              <a:t>541328.</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
        <p:nvSpPr>
          <p:cNvPr id="11" name="object 6">
            <a:extLst>
              <a:ext uri="{FF2B5EF4-FFF2-40B4-BE49-F238E27FC236}">
                <a16:creationId xmlns:a16="http://schemas.microsoft.com/office/drawing/2014/main" id="{7FFBD49C-0036-19C7-7859-E4CB0A21973B}"/>
              </a:ext>
            </a:extLst>
          </p:cNvPr>
          <p:cNvSpPr txBox="1"/>
          <p:nvPr/>
        </p:nvSpPr>
        <p:spPr>
          <a:xfrm>
            <a:off x="526288" y="6769091"/>
            <a:ext cx="3168650" cy="354712"/>
          </a:xfrm>
          <a:prstGeom prst="rect">
            <a:avLst/>
          </a:prstGeom>
        </p:spPr>
        <p:txBody>
          <a:bodyPr vert="horz" wrap="square" lIns="0" tIns="12700" rIns="0" bIns="0" rtlCol="0">
            <a:spAutoFit/>
          </a:bodyPr>
          <a:lstStyle/>
          <a:p>
            <a:pPr marL="12700" marR="5080" algn="just">
              <a:lnSpc>
                <a:spcPct val="138000"/>
              </a:lnSpc>
              <a:spcBef>
                <a:spcPts val="100"/>
              </a:spcBef>
              <a:buChar char="●"/>
              <a:tabLst>
                <a:tab pos="109855" algn="l"/>
              </a:tabLst>
            </a:pP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  IEXS GLOBAL LTD (BAH) </a:t>
            </a:r>
            <a:r>
              <a:rPr lang="zh-TW" altLang="en-US"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由巴哈馬證券委員會（</a:t>
            </a: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SCB</a:t>
            </a:r>
            <a:r>
              <a:rPr lang="zh-TW" altLang="en-US"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）授權並受其監管，監管號碼為</a:t>
            </a:r>
            <a:r>
              <a:rPr lang="en-US" altLang="zh-TW" sz="850" spc="-5" dirty="0">
                <a:solidFill>
                  <a:srgbClr val="4A443E"/>
                </a:solidFill>
                <a:latin typeface="苹方 常规" panose="020B0300000000000000" pitchFamily="34" charset="-122"/>
                <a:ea typeface="苹方 常规" panose="020B0300000000000000" pitchFamily="34" charset="-122"/>
                <a:cs typeface="苹方 常规" panose="020B0300000000000000" charset="-122"/>
              </a:rPr>
              <a:t>SIA-F257</a:t>
            </a:r>
            <a:endParaRPr sz="850" dirty="0">
              <a:latin typeface="苹方 常规" panose="020B0300000000000000" pitchFamily="34" charset="-122"/>
              <a:ea typeface="苹方 常规" panose="020B0300000000000000" pitchFamily="34" charset="-122"/>
              <a:cs typeface="苹方 常规" panose="020B0300000000000000"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616</Words>
  <Application>Microsoft Office PowerPoint</Application>
  <PresentationFormat>自定义</PresentationFormat>
  <Paragraphs>49</Paragraphs>
  <Slides>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苹方 常规</vt:lpstr>
      <vt:lpstr>微软雅黑</vt:lpstr>
      <vt:lpstr>微软雅黑 Light</vt:lpstr>
      <vt:lpstr>Calibri</vt:lpstr>
      <vt:lpstr>Symbol</vt:lpstr>
      <vt:lpstr>Office Theme</vt:lpstr>
      <vt:lpstr>IEXS 複利獎賞計劃 IEXS EXTRA</vt:lpstr>
      <vt:lpstr>IEXS 複利獎賞計劃 - 不止於交易</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IEXS 複利獎賞計劃_x000d_IEXS EXTRA</dc:title>
  <dc:creator/>
  <cp:lastModifiedBy>Ying Chen</cp:lastModifiedBy>
  <cp:revision>18</cp:revision>
  <dcterms:created xsi:type="dcterms:W3CDTF">2021-03-16T10:57:00Z</dcterms:created>
  <dcterms:modified xsi:type="dcterms:W3CDTF">2026-05-11T07:16:18Z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2020-08-19T00:00:00Z</vt:filetime>
  </property>
  <property fmtid="{D5CDD505-2E9C-101B-9397-08002B2CF9AE}" pid="3" name="Creator">
    <vt:lpwstr>Word</vt:lpwstr>
  </property>
  <property fmtid="{D5CDD505-2E9C-101B-9397-08002B2CF9AE}" pid="4" name="LastSaved">
    <vt:filetime>2021-03-16T00:00:00Z</vt:filetime>
  </property>
  <property fmtid="{D5CDD505-2E9C-101B-9397-08002B2CF9AE}" pid="5" name="KSOProductBuildVer">
    <vt:lpwstr>2052-11.1.0.9998</vt:lpwstr>
  </property>
</Properties>
</file>