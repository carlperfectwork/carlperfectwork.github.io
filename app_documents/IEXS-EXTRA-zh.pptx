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3" r:id="rId5"/>
  </p:sldIdLst>
  <p:sldSz cx="7772400" cy="10058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8756"/>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2004" y="32"/>
      </p:cViewPr>
      <p:guideLst>
        <p:guide orient="horz" pos="2880"/>
        <p:guide pos="219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ger tt" userId="9ccdfb755bc8bdd7" providerId="LiveId" clId="{0D607A7F-1B5D-429C-BAF6-FB47962020DE}"/>
    <pc:docChg chg="custSel modSld">
      <pc:chgData name="tiger tt" userId="9ccdfb755bc8bdd7" providerId="LiveId" clId="{0D607A7F-1B5D-429C-BAF6-FB47962020DE}" dt="2025-05-19T06:32:51.381" v="14" actId="20577"/>
      <pc:docMkLst>
        <pc:docMk/>
      </pc:docMkLst>
      <pc:sldChg chg="delSp modSp mod">
        <pc:chgData name="tiger tt" userId="9ccdfb755bc8bdd7" providerId="LiveId" clId="{0D607A7F-1B5D-429C-BAF6-FB47962020DE}" dt="2025-05-19T06:32:51.381" v="14" actId="20577"/>
        <pc:sldMkLst>
          <pc:docMk/>
          <pc:sldMk cId="0" sldId="261"/>
        </pc:sldMkLst>
        <pc:spChg chg="mod">
          <ac:chgData name="tiger tt" userId="9ccdfb755bc8bdd7" providerId="LiveId" clId="{0D607A7F-1B5D-429C-BAF6-FB47962020DE}" dt="2025-05-16T06:29:21.047" v="5" actId="1036"/>
          <ac:spMkLst>
            <pc:docMk/>
            <pc:sldMk cId="0" sldId="261"/>
            <ac:spMk id="22" creationId="{83DB9AD5-E97C-8483-B613-1888EED03250}"/>
          </ac:spMkLst>
        </pc:spChg>
        <pc:spChg chg="mod">
          <ac:chgData name="tiger tt" userId="9ccdfb755bc8bdd7" providerId="LiveId" clId="{0D607A7F-1B5D-429C-BAF6-FB47962020DE}" dt="2025-05-16T06:29:21.047" v="5" actId="1036"/>
          <ac:spMkLst>
            <pc:docMk/>
            <pc:sldMk cId="0" sldId="261"/>
            <ac:spMk id="24" creationId="{81BF8902-EDA4-CBBA-1575-ABCCED326E87}"/>
          </ac:spMkLst>
        </pc:spChg>
        <pc:spChg chg="mod">
          <ac:chgData name="tiger tt" userId="9ccdfb755bc8bdd7" providerId="LiveId" clId="{0D607A7F-1B5D-429C-BAF6-FB47962020DE}" dt="2025-05-16T06:29:38.870" v="6" actId="255"/>
          <ac:spMkLst>
            <pc:docMk/>
            <pc:sldMk cId="0" sldId="261"/>
            <ac:spMk id="25" creationId="{0C4D5BD8-28A6-1E98-8A2C-695DCC68E417}"/>
          </ac:spMkLst>
        </pc:spChg>
        <pc:spChg chg="mod">
          <ac:chgData name="tiger tt" userId="9ccdfb755bc8bdd7" providerId="LiveId" clId="{0D607A7F-1B5D-429C-BAF6-FB47962020DE}" dt="2025-05-16T06:29:21.047" v="5" actId="1036"/>
          <ac:spMkLst>
            <pc:docMk/>
            <pc:sldMk cId="0" sldId="261"/>
            <ac:spMk id="26" creationId="{888172CB-A7FD-3099-B076-99B8F76C9E72}"/>
          </ac:spMkLst>
        </pc:spChg>
        <pc:spChg chg="mod">
          <ac:chgData name="tiger tt" userId="9ccdfb755bc8bdd7" providerId="LiveId" clId="{0D607A7F-1B5D-429C-BAF6-FB47962020DE}" dt="2025-05-19T06:32:51.381" v="14" actId="20577"/>
          <ac:spMkLst>
            <pc:docMk/>
            <pc:sldMk cId="0" sldId="261"/>
            <ac:spMk id="27" creationId="{0BB1AE96-D70D-A17C-F6A1-D8DDFFD8E0EB}"/>
          </ac:spMkLst>
        </pc:spChg>
        <pc:spChg chg="mod">
          <ac:chgData name="tiger tt" userId="9ccdfb755bc8bdd7" providerId="LiveId" clId="{0D607A7F-1B5D-429C-BAF6-FB47962020DE}" dt="2025-05-16T06:29:21.047" v="5" actId="1036"/>
          <ac:spMkLst>
            <pc:docMk/>
            <pc:sldMk cId="0" sldId="261"/>
            <ac:spMk id="28" creationId="{DBC3398D-ED68-12B6-7421-D528129DA732}"/>
          </ac:spMkLst>
        </pc:spChg>
      </pc:sldChg>
    </pc:docChg>
  </pc:docChgLst>
  <pc:docChgLst>
    <pc:chgData name="tiger tt" userId="9ccdfb755bc8bdd7" providerId="LiveId" clId="{FB2F748A-AF94-4A5D-A164-8681840452F7}"/>
    <pc:docChg chg="undo custSel modSld">
      <pc:chgData name="tiger tt" userId="9ccdfb755bc8bdd7" providerId="LiveId" clId="{FB2F748A-AF94-4A5D-A164-8681840452F7}" dt="2022-05-31T03:01:03.309" v="5" actId="20577"/>
      <pc:docMkLst>
        <pc:docMk/>
      </pc:docMkLst>
      <pc:sldChg chg="modSp mod">
        <pc:chgData name="tiger tt" userId="9ccdfb755bc8bdd7" providerId="LiveId" clId="{FB2F748A-AF94-4A5D-A164-8681840452F7}" dt="2022-05-31T03:01:03.309" v="5" actId="20577"/>
        <pc:sldMkLst>
          <pc:docMk/>
          <pc:sldMk cId="0"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04C3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p:txBody>
          <a:bodyPr lIns="0" tIns="0" rIns="0" bIns="0"/>
          <a:lstStyle>
            <a:lvl1pPr>
              <a:defRPr sz="900" b="0" i="0">
                <a:solidFill>
                  <a:srgbClr val="948980"/>
                </a:solidFill>
                <a:latin typeface="微软雅黑 Light" panose="020B0502040204020203" charset="-122"/>
                <a:cs typeface="微软雅黑 Light" panose="020B0502040204020203" charset="-122"/>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04C35"/>
                </a:solidFill>
                <a:latin typeface="微软雅黑" panose="020B0503020204020204" charset="-122"/>
                <a:cs typeface="微软雅黑" panose="020B0503020204020204" charset="-122"/>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4774387"/>
            <a:ext cx="7772400" cy="5284012"/>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0" i="0">
                <a:solidFill>
                  <a:srgbClr val="F04C3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39113" y="885825"/>
            <a:ext cx="6680834" cy="0"/>
          </a:xfrm>
          <a:custGeom>
            <a:avLst/>
            <a:gdLst/>
            <a:ahLst/>
            <a:cxnLst/>
            <a:rect l="l" t="t" r="r" b="b"/>
            <a:pathLst>
              <a:path w="6680834">
                <a:moveTo>
                  <a:pt x="0" y="0"/>
                </a:moveTo>
                <a:lnTo>
                  <a:pt x="6680835" y="1"/>
                </a:lnTo>
              </a:path>
            </a:pathLst>
          </a:custGeom>
          <a:ln w="6350">
            <a:solidFill>
              <a:srgbClr val="948980"/>
            </a:solidFill>
          </a:ln>
        </p:spPr>
        <p:txBody>
          <a:bodyPr wrap="square" lIns="0" tIns="0" rIns="0" bIns="0" rtlCol="0"/>
          <a:lstStyle/>
          <a:p>
            <a:endParaRPr/>
          </a:p>
        </p:txBody>
      </p:sp>
      <p:sp>
        <p:nvSpPr>
          <p:cNvPr id="2" name="Holder 2"/>
          <p:cNvSpPr>
            <a:spLocks noGrp="1"/>
          </p:cNvSpPr>
          <p:nvPr>
            <p:ph type="title"/>
          </p:nvPr>
        </p:nvSpPr>
        <p:spPr>
          <a:xfrm>
            <a:off x="526795" y="1328419"/>
            <a:ext cx="6718808" cy="391160"/>
          </a:xfrm>
          <a:prstGeom prst="rect">
            <a:avLst/>
          </a:prstGeom>
        </p:spPr>
        <p:txBody>
          <a:bodyPr wrap="square" lIns="0" tIns="0" rIns="0" bIns="0">
            <a:spAutoFit/>
          </a:bodyPr>
          <a:lstStyle>
            <a:lvl1pPr>
              <a:defRPr sz="2400" b="0" i="0">
                <a:solidFill>
                  <a:srgbClr val="F04C3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a:xfrm>
            <a:off x="407924" y="2735376"/>
            <a:ext cx="6956551" cy="2439670"/>
          </a:xfrm>
          <a:prstGeom prst="rect">
            <a:avLst/>
          </a:prstGeom>
        </p:spPr>
        <p:txBody>
          <a:bodyPr wrap="square" lIns="0" tIns="0" rIns="0" bIns="0">
            <a:spAutoFit/>
          </a:bodyPr>
          <a:lstStyle>
            <a:lvl1pPr>
              <a:defRPr sz="900" b="0" i="0">
                <a:solidFill>
                  <a:srgbClr val="948980"/>
                </a:solidFill>
                <a:latin typeface="微软雅黑 Light" panose="020B0502040204020203" charset="-122"/>
                <a:cs typeface="微软雅黑 Light" panose="020B0502040204020203" charset="-122"/>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9115" y="2713355"/>
            <a:ext cx="4552950" cy="1310640"/>
          </a:xfrm>
          <a:prstGeom prst="rect">
            <a:avLst/>
          </a:prstGeom>
        </p:spPr>
        <p:txBody>
          <a:bodyPr vert="horz" wrap="square" lIns="0" tIns="45720" rIns="0" bIns="0" rtlCol="0">
            <a:spAutoFit/>
          </a:bodyPr>
          <a:lstStyle/>
          <a:p>
            <a:pPr marL="12700">
              <a:lnSpc>
                <a:spcPct val="100000"/>
              </a:lnSpc>
              <a:spcBef>
                <a:spcPts val="360"/>
              </a:spcBef>
            </a:pPr>
            <a:r>
              <a:rPr sz="6000" spc="82" baseline="3000" dirty="0">
                <a:solidFill>
                  <a:srgbClr val="B68756"/>
                </a:solidFill>
                <a:latin typeface="苹方 常规" panose="020B0300000000000000" charset="-122"/>
                <a:ea typeface="苹方 常规" panose="020B0300000000000000" charset="-122"/>
                <a:cs typeface="苹方 常规" panose="020B0300000000000000" charset="-122"/>
              </a:rPr>
              <a:t>IEXS</a:t>
            </a:r>
            <a:r>
              <a:rPr sz="6000" spc="555" baseline="3000" dirty="0">
                <a:solidFill>
                  <a:srgbClr val="B68756"/>
                </a:solidFill>
                <a:latin typeface="苹方 常规" panose="020B0300000000000000" charset="-122"/>
                <a:ea typeface="苹方 常规" panose="020B0300000000000000" charset="-122"/>
                <a:cs typeface="苹方 常规" panose="020B0300000000000000" charset="-122"/>
              </a:rPr>
              <a:t> </a:t>
            </a:r>
            <a:r>
              <a:rPr sz="4000" spc="75" dirty="0" err="1">
                <a:solidFill>
                  <a:srgbClr val="B68756"/>
                </a:solidFill>
                <a:latin typeface="苹方 常规" panose="020B0300000000000000" charset="-122"/>
                <a:ea typeface="苹方 常规" panose="020B0300000000000000" charset="-122"/>
                <a:cs typeface="苹方 常规" panose="020B0300000000000000" charset="-122"/>
              </a:rPr>
              <a:t>复利奖赏计划</a:t>
            </a:r>
            <a:endParaRPr sz="4000" dirty="0">
              <a:solidFill>
                <a:srgbClr val="B68756"/>
              </a:solidFill>
              <a:latin typeface="苹方 常规" panose="020B0300000000000000" charset="-122"/>
              <a:ea typeface="苹方 常规" panose="020B0300000000000000" charset="-122"/>
              <a:cs typeface="苹方 常规" panose="020B0300000000000000" charset="-122"/>
            </a:endParaRPr>
          </a:p>
          <a:p>
            <a:pPr marL="12700">
              <a:lnSpc>
                <a:spcPct val="100000"/>
              </a:lnSpc>
              <a:spcBef>
                <a:spcPts val="265"/>
              </a:spcBef>
            </a:pPr>
            <a:r>
              <a:rPr sz="4000" spc="55" dirty="0">
                <a:solidFill>
                  <a:srgbClr val="B68756"/>
                </a:solidFill>
                <a:latin typeface="苹方 常规" panose="020B0300000000000000" charset="-122"/>
                <a:ea typeface="苹方 常规" panose="020B0300000000000000" charset="-122"/>
                <a:cs typeface="苹方 常规" panose="020B0300000000000000" charset="-122"/>
              </a:rPr>
              <a:t>IEXS</a:t>
            </a:r>
            <a:r>
              <a:rPr sz="4000" spc="150" dirty="0">
                <a:solidFill>
                  <a:srgbClr val="B68756"/>
                </a:solidFill>
                <a:latin typeface="苹方 常规" panose="020B0300000000000000" charset="-122"/>
                <a:ea typeface="苹方 常规" panose="020B0300000000000000" charset="-122"/>
                <a:cs typeface="苹方 常规" panose="020B0300000000000000" charset="-122"/>
              </a:rPr>
              <a:t> </a:t>
            </a:r>
            <a:r>
              <a:rPr sz="4000" spc="60" dirty="0">
                <a:solidFill>
                  <a:srgbClr val="B68756"/>
                </a:solidFill>
                <a:latin typeface="苹方 常规" panose="020B0300000000000000" charset="-122"/>
                <a:ea typeface="苹方 常规" panose="020B0300000000000000" charset="-122"/>
                <a:cs typeface="苹方 常规" panose="020B0300000000000000" charset="-122"/>
              </a:rPr>
              <a:t>EXTRA</a:t>
            </a:r>
            <a:endParaRPr sz="4000" dirty="0">
              <a:solidFill>
                <a:srgbClr val="B68756"/>
              </a:solidFill>
              <a:latin typeface="苹方 常规" panose="020B0300000000000000" charset="-122"/>
              <a:ea typeface="苹方 常规" panose="020B0300000000000000" charset="-122"/>
              <a:cs typeface="苹方 常规" panose="020B0300000000000000" charset="-122"/>
            </a:endParaRPr>
          </a:p>
        </p:txBody>
      </p:sp>
      <p:pic>
        <p:nvPicPr>
          <p:cNvPr id="4" name="图片 3">
            <a:extLst>
              <a:ext uri="{FF2B5EF4-FFF2-40B4-BE49-F238E27FC236}">
                <a16:creationId xmlns:a16="http://schemas.microsoft.com/office/drawing/2014/main" id="{4687AC6E-F89F-2D5A-5742-0A5847D678B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41313" y="685800"/>
            <a:ext cx="158344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7050" y="1367790"/>
            <a:ext cx="4793615" cy="381635"/>
          </a:xfrm>
          <a:prstGeom prst="rect">
            <a:avLst/>
          </a:prstGeom>
        </p:spPr>
        <p:txBody>
          <a:bodyPr vert="horz" wrap="square" lIns="0" tIns="12700" rIns="0" bIns="0" rtlCol="0">
            <a:spAutoFit/>
          </a:bodyPr>
          <a:lstStyle/>
          <a:p>
            <a:pPr marL="12700">
              <a:lnSpc>
                <a:spcPct val="100000"/>
              </a:lnSpc>
              <a:spcBef>
                <a:spcPts val="100"/>
              </a:spcBef>
            </a:pPr>
            <a:r>
              <a:rPr spc="3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IEXS</a:t>
            </a:r>
            <a:r>
              <a:rPr spc="55"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spc="40" dirty="0" err="1">
                <a:solidFill>
                  <a:srgbClr val="B68756"/>
                </a:solidFill>
                <a:latin typeface="苹方 常规" panose="020B0300000000000000" pitchFamily="34" charset="-122"/>
                <a:ea typeface="苹方 常规" panose="020B0300000000000000" pitchFamily="34" charset="-122"/>
                <a:cs typeface="苹方 常规" panose="020B0300000000000000" charset="-122"/>
              </a:rPr>
              <a:t>复利奖赏计</a:t>
            </a:r>
            <a:r>
              <a:rPr dirty="0" err="1">
                <a:solidFill>
                  <a:srgbClr val="B68756"/>
                </a:solidFill>
                <a:latin typeface="苹方 常规" panose="020B0300000000000000" pitchFamily="34" charset="-122"/>
                <a:ea typeface="苹方 常规" panose="020B0300000000000000" pitchFamily="34" charset="-122"/>
                <a:cs typeface="苹方 常规" panose="020B0300000000000000" charset="-122"/>
              </a:rPr>
              <a:t>划</a:t>
            </a:r>
            <a:r>
              <a:rPr spc="65"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dirty="0">
                <a:solidFill>
                  <a:srgbClr val="B68756"/>
                </a:solidFill>
                <a:latin typeface="苹方 常规" panose="020B0300000000000000" pitchFamily="34" charset="-122"/>
                <a:ea typeface="苹方 常规" panose="020B0300000000000000" pitchFamily="34" charset="-122"/>
                <a:cs typeface="苹方 常规" panose="020B0300000000000000" charset="-122"/>
              </a:rPr>
              <a:t>-</a:t>
            </a:r>
            <a:r>
              <a:rPr spc="65"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spc="40" dirty="0" err="1">
                <a:solidFill>
                  <a:srgbClr val="B68756"/>
                </a:solidFill>
                <a:latin typeface="苹方 常规" panose="020B0300000000000000" pitchFamily="34" charset="-122"/>
                <a:ea typeface="苹方 常规" panose="020B0300000000000000" pitchFamily="34" charset="-122"/>
                <a:cs typeface="苹方 常规" panose="020B0300000000000000" charset="-122"/>
              </a:rPr>
              <a:t>不止于交易</a:t>
            </a:r>
            <a:endParaRPr spc="40" dirty="0">
              <a:solidFill>
                <a:srgbClr val="B68756"/>
              </a:solidFill>
              <a:latin typeface="苹方 常规" panose="020B0300000000000000" pitchFamily="34" charset="-122"/>
              <a:ea typeface="苹方 常规" panose="020B0300000000000000" pitchFamily="34" charset="-122"/>
              <a:cs typeface="苹方 常规" panose="020B0300000000000000" charset="-122"/>
            </a:endParaRPr>
          </a:p>
        </p:txBody>
      </p:sp>
      <p:sp>
        <p:nvSpPr>
          <p:cNvPr id="3" name="object 3"/>
          <p:cNvSpPr txBox="1">
            <a:spLocks noGrp="1"/>
          </p:cNvSpPr>
          <p:nvPr>
            <p:ph type="body" idx="1"/>
          </p:nvPr>
        </p:nvSpPr>
        <p:spPr>
          <a:xfrm>
            <a:off x="407924" y="2735376"/>
            <a:ext cx="6828537" cy="2439670"/>
          </a:xfrm>
          <a:prstGeom prst="rect">
            <a:avLst/>
          </a:prstGeom>
        </p:spPr>
        <p:txBody>
          <a:bodyPr vert="horz" wrap="square" lIns="0" tIns="12700" rIns="0" bIns="0" rtlCol="0">
            <a:spAutoFit/>
          </a:bodyPr>
          <a:lstStyle/>
          <a:p>
            <a:pPr marL="131445" marR="5080">
              <a:lnSpc>
                <a:spcPct val="144000"/>
              </a:lnSpc>
              <a:spcBef>
                <a:spcPts val="100"/>
              </a:spcBef>
            </a:pPr>
            <a:r>
              <a:rPr spc="40" dirty="0" err="1">
                <a:latin typeface="苹方 常规" panose="020B0300000000000000" pitchFamily="34" charset="-122"/>
                <a:ea typeface="苹方 常规" panose="020B0300000000000000" pitchFamily="34" charset="-122"/>
                <a:cs typeface="苹方 常规" panose="020B0300000000000000" charset="-122"/>
              </a:rPr>
              <a:t>一直以来客户的资金增长都是我们非常重视的，务求为客户达到最大利益效果</a:t>
            </a:r>
            <a:r>
              <a:rPr spc="10" dirty="0">
                <a:latin typeface="苹方 常规" panose="020B0300000000000000" pitchFamily="34" charset="-122"/>
                <a:ea typeface="苹方 常规" panose="020B0300000000000000" pitchFamily="34" charset="-122"/>
                <a:cs typeface="苹方 常规" panose="020B0300000000000000" charset="-122"/>
              </a:rPr>
              <a:t>。</a:t>
            </a:r>
            <a:r>
              <a:rPr spc="185" dirty="0">
                <a:latin typeface="苹方 常规" panose="020B0300000000000000" pitchFamily="34" charset="-122"/>
                <a:ea typeface="苹方 常规" panose="020B0300000000000000" pitchFamily="34" charset="-122"/>
                <a:cs typeface="苹方 常规" panose="020B0300000000000000" charset="-122"/>
              </a:rPr>
              <a:t> </a:t>
            </a:r>
            <a:r>
              <a:rPr spc="35" dirty="0">
                <a:latin typeface="苹方 常规" panose="020B0300000000000000" pitchFamily="34" charset="-122"/>
                <a:ea typeface="苹方 常规" panose="020B0300000000000000" pitchFamily="34" charset="-122"/>
                <a:cs typeface="苹方 常规" panose="020B0300000000000000" charset="-122"/>
              </a:rPr>
              <a:t>“EXTRA”</a:t>
            </a:r>
            <a:r>
              <a:rPr spc="195" dirty="0">
                <a:latin typeface="苹方 常规" panose="020B0300000000000000" pitchFamily="34" charset="-122"/>
                <a:ea typeface="苹方 常规" panose="020B0300000000000000" pitchFamily="34" charset="-122"/>
                <a:cs typeface="苹方 常规" panose="020B0300000000000000" charset="-122"/>
              </a:rPr>
              <a:t> </a:t>
            </a:r>
            <a:r>
              <a:rPr spc="5" dirty="0">
                <a:latin typeface="苹方 常规" panose="020B0300000000000000" pitchFamily="34" charset="-122"/>
                <a:ea typeface="苹方 常规" panose="020B0300000000000000" pitchFamily="34" charset="-122"/>
                <a:cs typeface="苹方 常规" panose="020B0300000000000000" charset="-122"/>
              </a:rPr>
              <a:t>–</a:t>
            </a:r>
            <a:r>
              <a:rPr spc="195" dirty="0">
                <a:latin typeface="苹方 常规" panose="020B0300000000000000" pitchFamily="34" charset="-122"/>
                <a:ea typeface="苹方 常规" panose="020B0300000000000000" pitchFamily="34" charset="-122"/>
                <a:cs typeface="苹方 常规" panose="020B0300000000000000" charset="-122"/>
              </a:rPr>
              <a:t> </a:t>
            </a:r>
            <a:r>
              <a:rPr spc="40" dirty="0" err="1">
                <a:latin typeface="苹方 常规" panose="020B0300000000000000" pitchFamily="34" charset="-122"/>
                <a:ea typeface="苹方 常规" panose="020B0300000000000000" pitchFamily="34" charset="-122"/>
                <a:cs typeface="苹方 常规" panose="020B0300000000000000" charset="-122"/>
              </a:rPr>
              <a:t>我们努力坚信一份额外的关注可</a:t>
            </a:r>
            <a:r>
              <a:rPr lang="zh-CN" altLang="en-US" spc="40" dirty="0">
                <a:latin typeface="苹方 常规" panose="020B0300000000000000" pitchFamily="34" charset="-122"/>
                <a:ea typeface="苹方 常规" panose="020B0300000000000000" pitchFamily="34" charset="-122"/>
                <a:cs typeface="苹方 常规" panose="020B0300000000000000" charset="-122"/>
              </a:rPr>
              <a:t>以</a:t>
            </a:r>
            <a:r>
              <a:rPr spc="40" dirty="0" err="1">
                <a:latin typeface="苹方 常规" panose="020B0300000000000000" pitchFamily="34" charset="-122"/>
                <a:ea typeface="苹方 常规" panose="020B0300000000000000" pitchFamily="34" charset="-122"/>
                <a:cs typeface="苹方 常规" panose="020B0300000000000000" charset="-122"/>
              </a:rPr>
              <a:t>配合我们在专业与完善的服务之上“额外”地为您提供更有效的增值优势</a:t>
            </a:r>
            <a:r>
              <a:rPr spc="10" dirty="0">
                <a:latin typeface="苹方 常规" panose="020B0300000000000000" pitchFamily="34" charset="-122"/>
                <a:ea typeface="苹方 常规" panose="020B0300000000000000" pitchFamily="34" charset="-122"/>
                <a:cs typeface="苹方 常规" panose="020B0300000000000000" charset="-122"/>
              </a:rPr>
              <a:t>。</a:t>
            </a:r>
            <a:r>
              <a:rPr spc="175" dirty="0">
                <a:latin typeface="苹方 常规" panose="020B0300000000000000" pitchFamily="34" charset="-122"/>
                <a:ea typeface="苹方 常规" panose="020B0300000000000000" pitchFamily="34" charset="-122"/>
                <a:cs typeface="苹方 常规" panose="020B0300000000000000" charset="-122"/>
              </a:rPr>
              <a:t> </a:t>
            </a:r>
            <a:r>
              <a:rPr spc="35" dirty="0">
                <a:latin typeface="苹方 常规" panose="020B0300000000000000" pitchFamily="34" charset="-122"/>
                <a:ea typeface="苹方 常规" panose="020B0300000000000000" pitchFamily="34" charset="-122"/>
                <a:cs typeface="苹方 常规" panose="020B0300000000000000" charset="-122"/>
              </a:rPr>
              <a:t>“IEXS</a:t>
            </a:r>
            <a:r>
              <a:rPr spc="110" dirty="0">
                <a:latin typeface="苹方 常规" panose="020B0300000000000000" pitchFamily="34" charset="-122"/>
                <a:ea typeface="苹方 常规" panose="020B0300000000000000" pitchFamily="34" charset="-122"/>
                <a:cs typeface="苹方 常规" panose="020B0300000000000000" charset="-122"/>
              </a:rPr>
              <a:t> </a:t>
            </a:r>
            <a:r>
              <a:rPr spc="40" dirty="0" err="1">
                <a:latin typeface="苹方 常规" panose="020B0300000000000000" pitchFamily="34" charset="-122"/>
                <a:ea typeface="苹方 常规" panose="020B0300000000000000" pitchFamily="34" charset="-122"/>
                <a:cs typeface="苹方 常规" panose="020B0300000000000000" charset="-122"/>
              </a:rPr>
              <a:t>EXTRA”是一个能配合我们客户投资组合的一个</a:t>
            </a:r>
            <a:r>
              <a:rPr spc="40" dirty="0">
                <a:latin typeface="苹方 常规" panose="020B0300000000000000" pitchFamily="34" charset="-122"/>
                <a:ea typeface="苹方 常规" panose="020B0300000000000000" pitchFamily="34" charset="-122"/>
                <a:cs typeface="苹方 常规" panose="020B0300000000000000" charset="-122"/>
              </a:rPr>
              <a:t> </a:t>
            </a:r>
            <a:r>
              <a:rPr spc="45" dirty="0" err="1">
                <a:latin typeface="苹方 常规" panose="020B0300000000000000" pitchFamily="34" charset="-122"/>
                <a:ea typeface="苹方 常规" panose="020B0300000000000000" pitchFamily="34" charset="-122"/>
                <a:cs typeface="苹方 常规" panose="020B0300000000000000" charset="-122"/>
              </a:rPr>
              <a:t>新优势</a:t>
            </a:r>
            <a:r>
              <a:rPr spc="10" dirty="0">
                <a:latin typeface="苹方 常规" panose="020B0300000000000000" pitchFamily="34" charset="-122"/>
                <a:ea typeface="苹方 常规" panose="020B0300000000000000" pitchFamily="34" charset="-122"/>
                <a:cs typeface="苹方 常规" panose="020B0300000000000000" charset="-122"/>
              </a:rPr>
              <a:t>。</a:t>
            </a:r>
            <a:r>
              <a:rPr spc="245" dirty="0">
                <a:latin typeface="苹方 常规" panose="020B0300000000000000" pitchFamily="34" charset="-122"/>
                <a:ea typeface="苹方 常规" panose="020B0300000000000000" pitchFamily="34" charset="-122"/>
                <a:cs typeface="苹方 常规" panose="020B0300000000000000" charset="-122"/>
              </a:rPr>
              <a:t> </a:t>
            </a:r>
            <a:r>
              <a:rPr spc="40" dirty="0" err="1">
                <a:latin typeface="苹方 常规" panose="020B0300000000000000" pitchFamily="34" charset="-122"/>
                <a:ea typeface="苹方 常规" panose="020B0300000000000000" pitchFamily="34" charset="-122"/>
                <a:cs typeface="苹方 常规" panose="020B0300000000000000" charset="-122"/>
              </a:rPr>
              <a:t>由IEXS</a:t>
            </a:r>
            <a:r>
              <a:rPr spc="45" dirty="0" err="1">
                <a:latin typeface="苹方 常规" panose="020B0300000000000000" pitchFamily="34" charset="-122"/>
                <a:ea typeface="苹方 常规" panose="020B0300000000000000" pitchFamily="34" charset="-122"/>
                <a:cs typeface="苹方 常规" panose="020B0300000000000000" charset="-122"/>
              </a:rPr>
              <a:t>集团所合作的投资银行与对冲基金给予的流动性所产</a:t>
            </a:r>
            <a:r>
              <a:rPr lang="zh-CN" altLang="en-US" spc="-40" dirty="0">
                <a:latin typeface="苹方 常规" panose="020B0300000000000000" pitchFamily="34" charset="-122"/>
                <a:ea typeface="苹方 常规" panose="020B0300000000000000" pitchFamily="34" charset="-122"/>
                <a:cs typeface="苹方 常规" panose="020B0300000000000000" charset="-122"/>
              </a:rPr>
              <a:t>生</a:t>
            </a:r>
            <a:r>
              <a:rPr spc="45" dirty="0" err="1">
                <a:latin typeface="苹方 常规" panose="020B0300000000000000" pitchFamily="34" charset="-122"/>
                <a:ea typeface="苹方 常规" panose="020B0300000000000000" pitchFamily="34" charset="-122"/>
                <a:cs typeface="苹方 常规" panose="020B0300000000000000" charset="-122"/>
              </a:rPr>
              <a:t>的隔夜利息，我们为客户争取到长期和稳健的收益奖赏</a:t>
            </a:r>
            <a:r>
              <a:rPr spc="45" dirty="0">
                <a:latin typeface="苹方 常规" panose="020B0300000000000000" pitchFamily="34" charset="-122"/>
                <a:ea typeface="苹方 常规" panose="020B0300000000000000" pitchFamily="34" charset="-122"/>
                <a:cs typeface="苹方 常规" panose="020B0300000000000000" charset="-122"/>
              </a:rPr>
              <a:t>，  </a:t>
            </a:r>
            <a:r>
              <a:rPr spc="40" dirty="0" err="1">
                <a:latin typeface="苹方 常规" panose="020B0300000000000000" pitchFamily="34" charset="-122"/>
                <a:ea typeface="苹方 常规" panose="020B0300000000000000" pitchFamily="34" charset="-122"/>
                <a:cs typeface="苹方 常规" panose="020B0300000000000000" charset="-122"/>
              </a:rPr>
              <a:t>并通过推出</a:t>
            </a:r>
            <a:r>
              <a:rPr spc="35" dirty="0" err="1">
                <a:latin typeface="苹方 常规" panose="020B0300000000000000" pitchFamily="34" charset="-122"/>
                <a:ea typeface="苹方 常规" panose="020B0300000000000000" pitchFamily="34" charset="-122"/>
                <a:cs typeface="苹方 常规" panose="020B0300000000000000" charset="-122"/>
              </a:rPr>
              <a:t>“IEXS</a:t>
            </a:r>
            <a:r>
              <a:rPr spc="180" dirty="0">
                <a:latin typeface="苹方 常规" panose="020B0300000000000000" pitchFamily="34" charset="-122"/>
                <a:ea typeface="苹方 常规" panose="020B0300000000000000" pitchFamily="34" charset="-122"/>
                <a:cs typeface="苹方 常规" panose="020B0300000000000000" charset="-122"/>
              </a:rPr>
              <a:t> </a:t>
            </a:r>
            <a:r>
              <a:rPr spc="40" dirty="0" err="1">
                <a:latin typeface="苹方 常规" panose="020B0300000000000000" pitchFamily="34" charset="-122"/>
                <a:ea typeface="苹方 常规" panose="020B0300000000000000" pitchFamily="34" charset="-122"/>
                <a:cs typeface="苹方 常规" panose="020B0300000000000000" charset="-122"/>
              </a:rPr>
              <a:t>EXTRA”这个复利计划反馈到我们尊贵的客户手中，无限制的资金与奖赏调配</a:t>
            </a:r>
            <a:r>
              <a:rPr spc="10" dirty="0">
                <a:latin typeface="苹方 常规" panose="020B0300000000000000" pitchFamily="34" charset="-122"/>
                <a:ea typeface="苹方 常规" panose="020B0300000000000000" pitchFamily="34" charset="-122"/>
                <a:cs typeface="苹方 常规" panose="020B0300000000000000" charset="-122"/>
              </a:rPr>
              <a:t>，</a:t>
            </a:r>
            <a:r>
              <a:rPr spc="180" dirty="0">
                <a:latin typeface="苹方 常规" panose="020B0300000000000000" pitchFamily="34" charset="-122"/>
                <a:ea typeface="苹方 常规" panose="020B0300000000000000" pitchFamily="34" charset="-122"/>
                <a:cs typeface="苹方 常规" panose="020B0300000000000000" charset="-122"/>
              </a:rPr>
              <a:t> </a:t>
            </a:r>
            <a:r>
              <a:rPr spc="40" dirty="0" err="1">
                <a:latin typeface="苹方 常规" panose="020B0300000000000000" pitchFamily="34" charset="-122"/>
                <a:ea typeface="苹方 常规" panose="020B0300000000000000" pitchFamily="34" charset="-122"/>
                <a:cs typeface="苹方 常规" panose="020B0300000000000000" charset="-122"/>
              </a:rPr>
              <a:t>给予客户最大的自由度去赚取</a:t>
            </a:r>
            <a:r>
              <a:rPr spc="40" dirty="0">
                <a:latin typeface="苹方 常规" panose="020B0300000000000000" pitchFamily="34" charset="-122"/>
                <a:ea typeface="苹方 常规" panose="020B0300000000000000" pitchFamily="34" charset="-122"/>
                <a:cs typeface="苹方 常规" panose="020B0300000000000000" charset="-122"/>
              </a:rPr>
              <a:t> </a:t>
            </a:r>
            <a:r>
              <a:rPr spc="40" dirty="0" err="1">
                <a:latin typeface="苹方 常规" panose="020B0300000000000000" pitchFamily="34" charset="-122"/>
                <a:ea typeface="苹方 常规" panose="020B0300000000000000" pitchFamily="34" charset="-122"/>
                <a:cs typeface="苹方 常规" panose="020B0300000000000000" charset="-122"/>
              </a:rPr>
              <a:t>一份额外的收益</a:t>
            </a:r>
            <a:r>
              <a:rPr spc="40" dirty="0">
                <a:latin typeface="苹方 常规" panose="020B0300000000000000" pitchFamily="34" charset="-122"/>
                <a:ea typeface="苹方 常规" panose="020B0300000000000000" pitchFamily="34" charset="-122"/>
                <a:cs typeface="苹方 常规" panose="020B0300000000000000" charset="-122"/>
              </a:rPr>
              <a:t>。</a:t>
            </a:r>
          </a:p>
          <a:p>
            <a:pPr marL="118745">
              <a:lnSpc>
                <a:spcPct val="100000"/>
              </a:lnSpc>
              <a:spcBef>
                <a:spcPts val="10"/>
              </a:spcBef>
            </a:pPr>
            <a:endParaRPr sz="1650" dirty="0">
              <a:latin typeface="苹方 常规" panose="020B0300000000000000" pitchFamily="34" charset="-122"/>
              <a:ea typeface="苹方 常规" panose="020B0300000000000000" pitchFamily="34" charset="-122"/>
              <a:cs typeface="苹方 常规" panose="020B0300000000000000" charset="-122"/>
            </a:endParaRPr>
          </a:p>
          <a:p>
            <a:pPr marL="131445">
              <a:lnSpc>
                <a:spcPct val="100000"/>
              </a:lnSpc>
              <a:spcBef>
                <a:spcPts val="5"/>
              </a:spcBef>
            </a:pPr>
            <a:r>
              <a:rPr sz="1200" b="0" spc="2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“IEXS</a:t>
            </a:r>
            <a:r>
              <a:rPr sz="1200" b="0" spc="45"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sz="1200" b="0" spc="2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EXTRA”-</a:t>
            </a:r>
            <a:r>
              <a:rPr sz="1200" b="0" spc="5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sz="1200" b="0" spc="25" dirty="0" err="1">
                <a:solidFill>
                  <a:srgbClr val="B68756"/>
                </a:solidFill>
                <a:latin typeface="苹方 常规" panose="020B0300000000000000" pitchFamily="34" charset="-122"/>
                <a:ea typeface="苹方 常规" panose="020B0300000000000000" pitchFamily="34" charset="-122"/>
                <a:cs typeface="苹方 常规" panose="020B0300000000000000" charset="-122"/>
              </a:rPr>
              <a:t>为您开拓成功交易之路</a:t>
            </a:r>
            <a:endParaRPr sz="1200" dirty="0">
              <a:solidFill>
                <a:srgbClr val="B68756"/>
              </a:solidFill>
              <a:latin typeface="苹方 常规" panose="020B0300000000000000" pitchFamily="34" charset="-122"/>
              <a:ea typeface="苹方 常规" panose="020B0300000000000000" pitchFamily="34" charset="-122"/>
              <a:cs typeface="苹方 常规" panose="020B0300000000000000" charset="-122"/>
            </a:endParaRPr>
          </a:p>
          <a:p>
            <a:pPr marL="118745">
              <a:lnSpc>
                <a:spcPct val="100000"/>
              </a:lnSpc>
              <a:spcBef>
                <a:spcPts val="30"/>
              </a:spcBef>
            </a:pPr>
            <a:endParaRPr sz="1400" dirty="0">
              <a:latin typeface="苹方 常规" panose="020B0300000000000000" pitchFamily="34" charset="-122"/>
              <a:ea typeface="苹方 常规" panose="020B0300000000000000" pitchFamily="34" charset="-122"/>
              <a:cs typeface="苹方 常规" panose="020B0300000000000000" charset="-122"/>
            </a:endParaRPr>
          </a:p>
          <a:p>
            <a:pPr marL="131445" marR="161290">
              <a:lnSpc>
                <a:spcPct val="144000"/>
              </a:lnSpc>
            </a:pPr>
            <a:r>
              <a:rPr spc="-5" dirty="0">
                <a:latin typeface="苹方 常规" panose="020B0300000000000000" pitchFamily="34" charset="-122"/>
                <a:ea typeface="苹方 常规" panose="020B0300000000000000" pitchFamily="34" charset="-122"/>
                <a:cs typeface="苹方 常规" panose="020B0300000000000000" charset="-122"/>
              </a:rPr>
              <a:t>“IEXS</a:t>
            </a:r>
            <a:r>
              <a:rPr spc="10" dirty="0">
                <a:latin typeface="苹方 常规" panose="020B0300000000000000" pitchFamily="34" charset="-122"/>
                <a:ea typeface="苹方 常规" panose="020B0300000000000000" pitchFamily="34" charset="-122"/>
                <a:cs typeface="苹方 常规" panose="020B0300000000000000" charset="-122"/>
              </a:rPr>
              <a:t> </a:t>
            </a:r>
            <a:r>
              <a:rPr spc="-5" dirty="0" err="1">
                <a:latin typeface="苹方 常规" panose="020B0300000000000000" pitchFamily="34" charset="-122"/>
                <a:ea typeface="苹方 常规" panose="020B0300000000000000" pitchFamily="34" charset="-122"/>
                <a:cs typeface="苹方 常规" panose="020B0300000000000000" charset="-122"/>
              </a:rPr>
              <a:t>EXTRA”受益于集团投行业务的支持（MMF</a:t>
            </a:r>
            <a:r>
              <a:rPr spc="-5" dirty="0">
                <a:latin typeface="苹方 常规" panose="020B0300000000000000" pitchFamily="34" charset="-122"/>
                <a:ea typeface="苹方 常规" panose="020B0300000000000000" pitchFamily="34" charset="-122"/>
                <a:cs typeface="苹方 常规" panose="020B0300000000000000" charset="-122"/>
              </a:rPr>
              <a:t>），</a:t>
            </a:r>
            <a:r>
              <a:rPr spc="-5" dirty="0" err="1">
                <a:latin typeface="苹方 常规" panose="020B0300000000000000" pitchFamily="34" charset="-122"/>
                <a:ea typeface="苹方 常规" panose="020B0300000000000000" pitchFamily="34" charset="-122"/>
                <a:cs typeface="苹方 常规" panose="020B0300000000000000" charset="-122"/>
              </a:rPr>
              <a:t>是一种全智能增值服务并且适用于所有客户，在完全不影响客户交易的情况下</a:t>
            </a:r>
            <a:r>
              <a:rPr spc="-5" dirty="0">
                <a:latin typeface="苹方 常规" panose="020B0300000000000000" pitchFamily="34" charset="-122"/>
                <a:ea typeface="苹方 常规" panose="020B0300000000000000" pitchFamily="34" charset="-122"/>
                <a:cs typeface="苹方 常规" panose="020B0300000000000000" charset="-122"/>
              </a:rPr>
              <a:t>，  </a:t>
            </a:r>
            <a:r>
              <a:rPr spc="-5" dirty="0" err="1">
                <a:latin typeface="苹方 常规" panose="020B0300000000000000" pitchFamily="34" charset="-122"/>
                <a:ea typeface="苹方 常规" panose="020B0300000000000000" pitchFamily="34" charset="-122"/>
                <a:cs typeface="苹方 常规" panose="020B0300000000000000" charset="-122"/>
              </a:rPr>
              <a:t>让您在投资交易过程中同时也能稳定的赚取账户可用保证金的复利收益</a:t>
            </a:r>
            <a:r>
              <a:rPr spc="10" dirty="0">
                <a:latin typeface="苹方 常规" panose="020B0300000000000000" pitchFamily="34" charset="-122"/>
                <a:ea typeface="苹方 常规" panose="020B0300000000000000" pitchFamily="34" charset="-122"/>
                <a:cs typeface="苹方 常规" panose="020B0300000000000000" charset="-122"/>
              </a:rPr>
              <a:t>，</a:t>
            </a:r>
            <a:r>
              <a:rPr spc="-15" dirty="0">
                <a:latin typeface="苹方 常规" panose="020B0300000000000000" pitchFamily="34" charset="-122"/>
                <a:ea typeface="苹方 常规" panose="020B0300000000000000" pitchFamily="34" charset="-122"/>
                <a:cs typeface="苹方 常规" panose="020B0300000000000000" charset="-122"/>
              </a:rPr>
              <a:t> </a:t>
            </a:r>
            <a:r>
              <a:rPr spc="-5" dirty="0">
                <a:latin typeface="苹方 常规" panose="020B0300000000000000" pitchFamily="34" charset="-122"/>
                <a:ea typeface="苹方 常规" panose="020B0300000000000000" pitchFamily="34" charset="-122"/>
                <a:cs typeface="苹方 常规" panose="020B0300000000000000" charset="-122"/>
              </a:rPr>
              <a:t>每日结算为客户的投资利益最大化。年化利率能高达</a:t>
            </a:r>
            <a:r>
              <a:rPr dirty="0">
                <a:latin typeface="苹方 常规" panose="020B0300000000000000" pitchFamily="34" charset="-122"/>
                <a:ea typeface="苹方 常规" panose="020B0300000000000000" pitchFamily="34" charset="-122"/>
                <a:cs typeface="苹方 常规" panose="020B0300000000000000" charset="-122"/>
              </a:rPr>
              <a:t>5%，  </a:t>
            </a:r>
            <a:r>
              <a:rPr spc="-5" dirty="0">
                <a:latin typeface="苹方 常规" panose="020B0300000000000000" pitchFamily="34" charset="-122"/>
                <a:ea typeface="苹方 常规" panose="020B0300000000000000" pitchFamily="34" charset="-122"/>
                <a:cs typeface="苹方 常规" panose="020B0300000000000000" charset="-122"/>
              </a:rPr>
              <a:t>客户交易账户之可用保证金只需高于5000美元便可以每日轻松赚取复利收益</a:t>
            </a:r>
            <a:r>
              <a:rPr dirty="0">
                <a:latin typeface="苹方 常规" panose="020B0300000000000000" pitchFamily="34" charset="-122"/>
                <a:ea typeface="苹方 常规" panose="020B0300000000000000" pitchFamily="34" charset="-122"/>
                <a:cs typeface="苹方 常规" panose="020B0300000000000000" charset="-122"/>
              </a:rPr>
              <a:t>, </a:t>
            </a:r>
            <a:r>
              <a:rPr spc="-5" dirty="0" err="1">
                <a:latin typeface="苹方 常规" panose="020B0300000000000000" pitchFamily="34" charset="-122"/>
                <a:ea typeface="苹方 常规" panose="020B0300000000000000" pitchFamily="34" charset="-122"/>
                <a:cs typeface="苹方 常规" panose="020B0300000000000000" charset="-122"/>
              </a:rPr>
              <a:t>容户只需登入到个人后台,便可于资金进出明细查找复利</a:t>
            </a:r>
            <a:r>
              <a:rPr spc="-5" dirty="0">
                <a:latin typeface="苹方 常规" panose="020B0300000000000000" pitchFamily="34" charset="-122"/>
                <a:ea typeface="苹方 常规" panose="020B0300000000000000" pitchFamily="34" charset="-122"/>
                <a:cs typeface="苹方 常规" panose="020B0300000000000000" charset="-122"/>
              </a:rPr>
              <a:t> </a:t>
            </a:r>
            <a:r>
              <a:rPr spc="-5" dirty="0" err="1">
                <a:latin typeface="苹方 常规" panose="020B0300000000000000" pitchFamily="34" charset="-122"/>
                <a:ea typeface="苹方 常规" panose="020B0300000000000000" pitchFamily="34" charset="-122"/>
                <a:cs typeface="苹方 常规" panose="020B0300000000000000" charset="-122"/>
              </a:rPr>
              <a:t>奖赏记录</a:t>
            </a:r>
            <a:r>
              <a:rPr spc="-5" dirty="0">
                <a:latin typeface="苹方 常规" panose="020B0300000000000000" pitchFamily="34" charset="-122"/>
                <a:ea typeface="苹方 常规" panose="020B0300000000000000" pitchFamily="34" charset="-122"/>
                <a:cs typeface="苹方 常规" panose="020B0300000000000000" charset="-122"/>
              </a:rPr>
              <a:t>。</a:t>
            </a:r>
          </a:p>
        </p:txBody>
      </p:sp>
      <p:sp>
        <p:nvSpPr>
          <p:cNvPr id="5" name="object 5"/>
          <p:cNvSpPr txBox="1"/>
          <p:nvPr/>
        </p:nvSpPr>
        <p:spPr>
          <a:xfrm>
            <a:off x="597977" y="5340997"/>
            <a:ext cx="2649220" cy="983603"/>
          </a:xfrm>
          <a:prstGeom prst="rect">
            <a:avLst/>
          </a:prstGeom>
        </p:spPr>
        <p:txBody>
          <a:bodyPr vert="horz" wrap="square" lIns="0" tIns="13970" rIns="0" bIns="0" rtlCol="0">
            <a:spAutoFit/>
          </a:bodyPr>
          <a:lstStyle/>
          <a:p>
            <a:pPr marL="282575" indent="-269875">
              <a:lnSpc>
                <a:spcPct val="100000"/>
              </a:lnSpc>
              <a:spcBef>
                <a:spcPts val="110"/>
              </a:spcBef>
              <a:buClr>
                <a:srgbClr val="B68756"/>
              </a:buClr>
              <a:buFont typeface="Symbol" panose="05050102010706020507"/>
              <a:buChar char=""/>
              <a:tabLst>
                <a:tab pos="281940" algn="l"/>
                <a:tab pos="282575" algn="l"/>
              </a:tabLst>
            </a:pP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无限制复利奖</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赏</a:t>
            </a:r>
            <a:r>
              <a:rPr sz="900" b="0" spc="-4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可用保证金越</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高</a:t>
            </a:r>
            <a:r>
              <a:rPr sz="900" b="0" spc="-4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收益反馈越高</a:t>
            </a:r>
            <a:endParaRPr sz="900" dirty="0">
              <a:latin typeface="苹方 常规" panose="020B0300000000000000" pitchFamily="34" charset="-122"/>
              <a:ea typeface="苹方 常规" panose="020B0300000000000000" pitchFamily="34" charset="-122"/>
              <a:cs typeface="苹方 常规" panose="020B0300000000000000" charset="-122"/>
            </a:endParaRPr>
          </a:p>
          <a:p>
            <a:pPr marL="281940">
              <a:lnSpc>
                <a:spcPct val="100000"/>
              </a:lnSpc>
            </a:pPr>
            <a:endParaRPr lang="en-US" sz="900" dirty="0">
              <a:latin typeface="苹方 常规" panose="020B0300000000000000" pitchFamily="34" charset="-122"/>
              <a:ea typeface="苹方 常规" panose="020B0300000000000000" pitchFamily="34" charset="-122"/>
              <a:cs typeface="苹方 常规" panose="020B0300000000000000" charset="-122"/>
            </a:endParaRPr>
          </a:p>
          <a:p>
            <a:pPr marL="282575" indent="-269875">
              <a:buClr>
                <a:srgbClr val="B68756"/>
              </a:buClr>
              <a:buFont typeface="Symbol" panose="05050102010706020507"/>
              <a:buChar char=""/>
              <a:tabLst>
                <a:tab pos="281940" algn="l"/>
                <a:tab pos="282575" algn="l"/>
              </a:tabLst>
            </a:pPr>
            <a:r>
              <a:rPr sz="900" spc="-5" dirty="0" err="1">
                <a:solidFill>
                  <a:srgbClr val="948980"/>
                </a:solidFill>
                <a:latin typeface="苹方 常规" panose="020B0300000000000000" pitchFamily="34" charset="-122"/>
                <a:ea typeface="苹方 常规" panose="020B0300000000000000" pitchFamily="34" charset="-122"/>
              </a:rPr>
              <a:t>于每日奖赏结算</a:t>
            </a:r>
            <a:r>
              <a:rPr sz="900" spc="-5" dirty="0">
                <a:solidFill>
                  <a:srgbClr val="948980"/>
                </a:solidFill>
                <a:latin typeface="苹方 常规" panose="020B0300000000000000" pitchFamily="34" charset="-122"/>
                <a:ea typeface="苹方 常规" panose="020B0300000000000000" pitchFamily="34" charset="-122"/>
              </a:rPr>
              <a:t> </a:t>
            </a:r>
            <a:r>
              <a:rPr sz="900" spc="-5" dirty="0" err="1">
                <a:solidFill>
                  <a:srgbClr val="948980"/>
                </a:solidFill>
                <a:latin typeface="苹方 常规" panose="020B0300000000000000" pitchFamily="34" charset="-122"/>
                <a:ea typeface="苹方 常规" panose="020B0300000000000000" pitchFamily="34" charset="-122"/>
              </a:rPr>
              <a:t>为客户提供灵活</a:t>
            </a:r>
            <a:r>
              <a:rPr sz="900" spc="-5" dirty="0">
                <a:solidFill>
                  <a:srgbClr val="948980"/>
                </a:solidFill>
                <a:latin typeface="苹方 常规" panose="020B0300000000000000" pitchFamily="34" charset="-122"/>
                <a:ea typeface="苹方 常规" panose="020B0300000000000000" pitchFamily="34" charset="-122"/>
              </a:rPr>
              <a:t> </a:t>
            </a:r>
            <a:r>
              <a:rPr sz="900" spc="-5" dirty="0" err="1">
                <a:solidFill>
                  <a:srgbClr val="948980"/>
                </a:solidFill>
                <a:latin typeface="苹方 常规" panose="020B0300000000000000" pitchFamily="34" charset="-122"/>
                <a:ea typeface="苹方 常规" panose="020B0300000000000000" pitchFamily="34" charset="-122"/>
              </a:rPr>
              <a:t>自由配搭组合</a:t>
            </a:r>
            <a:endParaRPr sz="900" spc="-5" dirty="0">
              <a:solidFill>
                <a:srgbClr val="948980"/>
              </a:solidFill>
              <a:latin typeface="苹方 常规" panose="020B0300000000000000" pitchFamily="34" charset="-122"/>
              <a:ea typeface="苹方 常规" panose="020B0300000000000000" pitchFamily="34" charset="-122"/>
            </a:endParaRPr>
          </a:p>
          <a:p>
            <a:pPr>
              <a:lnSpc>
                <a:spcPct val="100000"/>
              </a:lnSpc>
              <a:spcBef>
                <a:spcPts val="45"/>
              </a:spcBef>
            </a:pPr>
            <a:endParaRPr sz="900" dirty="0">
              <a:latin typeface="苹方 常规" panose="020B0300000000000000" pitchFamily="34" charset="-122"/>
              <a:ea typeface="苹方 常规" panose="020B0300000000000000" pitchFamily="34" charset="-122"/>
              <a:cs typeface="苹方 常规" panose="020B0300000000000000" charset="-122"/>
            </a:endParaRPr>
          </a:p>
          <a:p>
            <a:pPr marL="282575" indent="-269875">
              <a:lnSpc>
                <a:spcPct val="100000"/>
              </a:lnSpc>
              <a:buClr>
                <a:srgbClr val="B68756"/>
              </a:buClr>
              <a:buFont typeface="Symbol" panose="05050102010706020507"/>
              <a:buChar char=""/>
              <a:tabLst>
                <a:tab pos="281940" algn="l"/>
                <a:tab pos="282575" algn="l"/>
              </a:tabLst>
            </a:pP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最低入门坎要</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求</a:t>
            </a:r>
            <a:r>
              <a:rPr sz="900" b="0" spc="-4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所有客户均适</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用</a:t>
            </a:r>
            <a:r>
              <a:rPr sz="900" b="0" spc="-4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轻松赚取复利</a:t>
            </a:r>
            <a:endParaRPr lang="en-US"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endParaRPr>
          </a:p>
          <a:p>
            <a:pPr marL="282575" indent="-269875">
              <a:lnSpc>
                <a:spcPct val="100000"/>
              </a:lnSpc>
              <a:buClr>
                <a:srgbClr val="F04C35"/>
              </a:buClr>
              <a:buFont typeface="Symbol" panose="05050102010706020507"/>
              <a:buChar char=""/>
              <a:tabLst>
                <a:tab pos="281940" algn="l"/>
                <a:tab pos="282575" algn="l"/>
              </a:tabLst>
            </a:pPr>
            <a:endParaRPr lang="en-US" sz="900" spc="-5" dirty="0">
              <a:solidFill>
                <a:srgbClr val="948980"/>
              </a:solidFill>
              <a:latin typeface="苹方 常规" panose="020B0300000000000000" pitchFamily="34" charset="-122"/>
              <a:ea typeface="苹方 常规" panose="020B0300000000000000" pitchFamily="34" charset="-122"/>
              <a:cs typeface="苹方 常规" panose="020B0300000000000000" charset="-122"/>
            </a:endParaRPr>
          </a:p>
          <a:p>
            <a:pPr marL="282575" indent="-269875">
              <a:lnSpc>
                <a:spcPct val="100000"/>
              </a:lnSpc>
              <a:buClr>
                <a:srgbClr val="B68756"/>
              </a:buClr>
              <a:buFont typeface="Symbol" panose="05050102010706020507"/>
              <a:buChar char=""/>
              <a:tabLst>
                <a:tab pos="281940" algn="l"/>
                <a:tab pos="282575" algn="l"/>
              </a:tabLst>
            </a:pPr>
            <a:r>
              <a:rPr lang="zh-CN" altLang="en-US" sz="900" spc="-5" dirty="0">
                <a:solidFill>
                  <a:srgbClr val="948980"/>
                </a:solidFill>
                <a:latin typeface="苹方 常规" panose="020B0300000000000000" pitchFamily="34" charset="-122"/>
                <a:ea typeface="苹方 常规" panose="020B0300000000000000" pitchFamily="34" charset="-122"/>
              </a:rPr>
              <a:t>无需持有订单即可享受复利计划</a:t>
            </a:r>
            <a:endParaRPr sz="900" spc="-5" dirty="0">
              <a:solidFill>
                <a:srgbClr val="948980"/>
              </a:solidFill>
              <a:latin typeface="苹方 常规" panose="020B0300000000000000" pitchFamily="34" charset="-122"/>
              <a:ea typeface="苹方 常规" panose="020B0300000000000000" pitchFamily="34" charset="-122"/>
            </a:endParaRPr>
          </a:p>
        </p:txBody>
      </p:sp>
      <p:sp>
        <p:nvSpPr>
          <p:cNvPr id="6" name="object 6"/>
          <p:cNvSpPr txBox="1"/>
          <p:nvPr/>
        </p:nvSpPr>
        <p:spPr>
          <a:xfrm>
            <a:off x="589025" y="6472336"/>
            <a:ext cx="5125975" cy="1685925"/>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“IEXS</a:t>
            </a:r>
            <a:r>
              <a:rPr sz="1200" spc="45"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sz="1200" spc="2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EXTRA”-</a:t>
            </a:r>
            <a:r>
              <a:rPr sz="1200" spc="5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sz="1200" spc="25" dirty="0" err="1">
                <a:solidFill>
                  <a:srgbClr val="B68756"/>
                </a:solidFill>
                <a:latin typeface="苹方 常规" panose="020B0300000000000000" pitchFamily="34" charset="-122"/>
                <a:ea typeface="苹方 常规" panose="020B0300000000000000" pitchFamily="34" charset="-122"/>
                <a:cs typeface="苹方 常规" panose="020B0300000000000000" charset="-122"/>
              </a:rPr>
              <a:t>计算方式</a:t>
            </a:r>
            <a:endParaRPr sz="1200" dirty="0">
              <a:solidFill>
                <a:srgbClr val="B68756"/>
              </a:solidFill>
              <a:latin typeface="苹方 常规" panose="020B0300000000000000" pitchFamily="34" charset="-122"/>
              <a:ea typeface="苹方 常规" panose="020B0300000000000000" pitchFamily="34" charset="-122"/>
              <a:cs typeface="苹方 常规" panose="020B0300000000000000" charset="-122"/>
            </a:endParaRPr>
          </a:p>
          <a:p>
            <a:pPr marL="12700" marR="721360">
              <a:lnSpc>
                <a:spcPct val="196000"/>
              </a:lnSpc>
              <a:spcBef>
                <a:spcPts val="995"/>
              </a:spcBef>
              <a:tabLst>
                <a:tab pos="1978025" algn="l"/>
              </a:tabLst>
            </a:pP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可用保证金：美</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元</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128,000.00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如当日获</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得</a:t>
            </a:r>
            <a:r>
              <a:rPr sz="900" b="0" spc="-6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IEXS</a:t>
            </a:r>
            <a:r>
              <a:rPr sz="900" b="0" spc="-2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EXTRA”尊享年化复利为</a:t>
            </a:r>
            <a:r>
              <a:rPr sz="900" b="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：5</a:t>
            </a:r>
            <a:r>
              <a:rPr sz="900" b="0" spc="-2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公式为：可用保证</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金</a:t>
            </a:r>
            <a:r>
              <a:rPr sz="900" b="0" spc="-2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x</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"IEXS</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EXTRA</a:t>
            </a:r>
            <a:r>
              <a:rPr sz="900" b="0" spc="-5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尊享复利</a:t>
            </a:r>
            <a:r>
              <a:rPr sz="900" b="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365</a:t>
            </a:r>
            <a:r>
              <a:rPr sz="900" b="0" spc="-5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天</a:t>
            </a:r>
            <a:r>
              <a:rPr sz="900" b="0" spc="-1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每日复利奖赏</a:t>
            </a:r>
            <a:endParaRPr sz="900" dirty="0">
              <a:latin typeface="苹方 常规" panose="020B0300000000000000" pitchFamily="34" charset="-122"/>
              <a:ea typeface="苹方 常规" panose="020B0300000000000000" pitchFamily="34" charset="-122"/>
              <a:cs typeface="苹方 常规" panose="020B0300000000000000" charset="-122"/>
            </a:endParaRPr>
          </a:p>
          <a:p>
            <a:pPr marL="12700">
              <a:lnSpc>
                <a:spcPct val="100000"/>
              </a:lnSpc>
              <a:spcBef>
                <a:spcPts val="1005"/>
              </a:spcBef>
            </a:pP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则每日可获取得的复利奖</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赏</a:t>
            </a:r>
            <a:r>
              <a:rPr sz="900" b="0" spc="25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USD</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128,000</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x</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5</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1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365</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17.53</a:t>
            </a:r>
            <a:r>
              <a:rPr sz="900" b="0" spc="-5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美元</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endParaRPr sz="900" dirty="0">
              <a:latin typeface="苹方 常规" panose="020B0300000000000000" pitchFamily="34" charset="-122"/>
              <a:ea typeface="苹方 常规" panose="020B0300000000000000" pitchFamily="34" charset="-122"/>
              <a:cs typeface="苹方 常规" panose="020B0300000000000000" charset="-122"/>
            </a:endParaRPr>
          </a:p>
          <a:p>
            <a:pPr marL="12700" marR="5080">
              <a:lnSpc>
                <a:spcPts val="2210"/>
              </a:lnSpc>
              <a:spcBef>
                <a:spcPts val="165"/>
              </a:spcBef>
            </a:pP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IEXS EXTRA</a:t>
            </a:r>
            <a:r>
              <a:rPr sz="900" b="0" spc="-4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尊享年化复</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利</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为浮动利率，与每日银行拆借利率相关，以上计算方法仅供参考</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计算方式必须达到以下所有条件</a:t>
            </a:r>
            <a:r>
              <a:rPr sz="900" b="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endParaRPr sz="90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7" name="object 7"/>
          <p:cNvSpPr txBox="1"/>
          <p:nvPr/>
        </p:nvSpPr>
        <p:spPr>
          <a:xfrm>
            <a:off x="605535" y="8168915"/>
            <a:ext cx="2733675" cy="658514"/>
          </a:xfrm>
          <a:prstGeom prst="rect">
            <a:avLst/>
          </a:prstGeom>
        </p:spPr>
        <p:txBody>
          <a:bodyPr vert="horz" wrap="square" lIns="0" tIns="88265" rIns="0" bIns="0" rtlCol="0">
            <a:spAutoFit/>
          </a:bodyPr>
          <a:lstStyle/>
          <a:p>
            <a:pPr marL="241300" indent="-228600">
              <a:lnSpc>
                <a:spcPct val="100000"/>
              </a:lnSpc>
              <a:spcBef>
                <a:spcPts val="600"/>
              </a:spcBef>
              <a:buFont typeface="+mj-lt"/>
              <a:buAutoNum type="arabicPeriod"/>
              <a:tabLst>
                <a:tab pos="240665" algn="l"/>
                <a:tab pos="241300" algn="l"/>
              </a:tabLst>
            </a:pP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交易账户之可用保证金需高</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于</a:t>
            </a:r>
            <a:r>
              <a:rPr sz="900" b="0" spc="-6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5000</a:t>
            </a:r>
            <a:r>
              <a:rPr sz="900" b="0" spc="-5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美元。</a:t>
            </a:r>
            <a:endParaRPr sz="900" dirty="0">
              <a:latin typeface="苹方 常规" panose="020B0300000000000000" pitchFamily="34" charset="-122"/>
              <a:ea typeface="苹方 常规" panose="020B0300000000000000" pitchFamily="34" charset="-122"/>
              <a:cs typeface="苹方 常规" panose="020B0300000000000000" charset="-122"/>
            </a:endParaRPr>
          </a:p>
          <a:p>
            <a:pPr marL="241300" indent="-228600">
              <a:spcBef>
                <a:spcPts val="600"/>
              </a:spcBef>
              <a:buFontTx/>
              <a:buAutoNum type="arabicPeriod"/>
              <a:tabLst>
                <a:tab pos="240665" algn="l"/>
                <a:tab pos="241300" algn="l"/>
              </a:tabLst>
            </a:pP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计算年复利的每年日数：365</a:t>
            </a:r>
            <a:r>
              <a:rPr sz="900" b="0" spc="-5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lang="en-US" altLang="zh-TW" sz="900" spc="-5" dirty="0">
                <a:solidFill>
                  <a:srgbClr val="948980"/>
                </a:solidFill>
                <a:latin typeface="苹方 常规" panose="020B0300000000000000" pitchFamily="34" charset="-122"/>
                <a:ea typeface="苹方 常规" panose="020B0300000000000000" pitchFamily="34" charset="-122"/>
                <a:cs typeface="苹方 常规" panose="020B0300000000000000" charset="-122"/>
                <a:sym typeface="+mn-ea"/>
              </a:rPr>
              <a:t>	</a:t>
            </a:r>
          </a:p>
          <a:p>
            <a:pPr marL="241300" indent="-228600">
              <a:spcBef>
                <a:spcPts val="600"/>
              </a:spcBef>
              <a:buFontTx/>
              <a:buAutoNum type="arabicPeriod"/>
              <a:tabLst>
                <a:tab pos="240665" algn="l"/>
                <a:tab pos="241300" algn="l"/>
              </a:tabLst>
            </a:pPr>
            <a:r>
              <a:rPr lang="en-US" altLang="zh-TW" sz="900" spc="-5" dirty="0">
                <a:solidFill>
                  <a:srgbClr val="948980"/>
                </a:solidFill>
                <a:latin typeface="苹方 常规" panose="020B0300000000000000" pitchFamily="34" charset="-122"/>
                <a:ea typeface="苹方 常规" panose="020B0300000000000000" pitchFamily="34" charset="-122"/>
                <a:cs typeface="苹方 常规" panose="020B0300000000000000" charset="-122"/>
                <a:sym typeface="+mn-ea"/>
              </a:rPr>
              <a:t>PAMM</a:t>
            </a:r>
            <a:r>
              <a:rPr lang="zh-TW" altLang="en-US" sz="900" spc="-5" dirty="0">
                <a:solidFill>
                  <a:srgbClr val="948980"/>
                </a:solidFill>
                <a:latin typeface="苹方 常规" panose="020B0300000000000000" pitchFamily="34" charset="-122"/>
                <a:ea typeface="苹方 常规" panose="020B0300000000000000" pitchFamily="34" charset="-122"/>
                <a:cs typeface="苹方 常规" panose="020B0300000000000000" charset="-122"/>
                <a:sym typeface="+mn-ea"/>
              </a:rPr>
              <a:t>的交易账户不享受复利计划</a:t>
            </a:r>
            <a:r>
              <a:rPr lang="zh-TW" altLang="en-US" sz="900" dirty="0">
                <a:latin typeface="苹方 常规" panose="020B0300000000000000" pitchFamily="34" charset="-122"/>
                <a:ea typeface="苹方 常规" panose="020B0300000000000000" pitchFamily="34" charset="-122"/>
                <a:cs typeface="苹方 常规" panose="020B0300000000000000" charset="-122"/>
              </a:rPr>
              <a:t> </a:t>
            </a:r>
          </a:p>
        </p:txBody>
      </p:sp>
      <p:sp>
        <p:nvSpPr>
          <p:cNvPr id="8" name="object 8"/>
          <p:cNvSpPr txBox="1"/>
          <p:nvPr/>
        </p:nvSpPr>
        <p:spPr>
          <a:xfrm>
            <a:off x="4292220" y="8204256"/>
            <a:ext cx="2874645" cy="640112"/>
          </a:xfrm>
          <a:prstGeom prst="rect">
            <a:avLst/>
          </a:prstGeom>
        </p:spPr>
        <p:txBody>
          <a:bodyPr vert="horz" wrap="square" lIns="0" tIns="12065" rIns="0" bIns="0" rtlCol="0">
            <a:spAutoFit/>
          </a:bodyPr>
          <a:lstStyle/>
          <a:p>
            <a:pPr marL="241300" marR="5080" indent="-228600">
              <a:lnSpc>
                <a:spcPct val="156000"/>
              </a:lnSpc>
              <a:spcBef>
                <a:spcPts val="95"/>
              </a:spcBef>
              <a:tabLst>
                <a:tab pos="240665" algn="l"/>
              </a:tabLst>
            </a:pPr>
            <a:r>
              <a:rPr lang="en-US"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4</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结算时间为每日英国格林威治标准时间（GMT+0）  22:00-24:00,</a:t>
            </a:r>
            <a:r>
              <a:rPr sz="900" b="0" spc="-3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结算时间过程根据用户活跃度可能各</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有</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不同，统一在次</a:t>
            </a:r>
            <a:r>
              <a:rPr sz="900" b="0" spc="10"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日</a:t>
            </a:r>
            <a:r>
              <a:rPr sz="900" b="0" spc="-6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06：00</a:t>
            </a:r>
            <a:r>
              <a:rPr sz="900" b="0" spc="-5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sz="900" b="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前入账到客户钱包</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p>
        </p:txBody>
      </p:sp>
      <p:sp>
        <p:nvSpPr>
          <p:cNvPr id="9" name="object 9"/>
          <p:cNvSpPr txBox="1"/>
          <p:nvPr/>
        </p:nvSpPr>
        <p:spPr>
          <a:xfrm>
            <a:off x="526795" y="9201404"/>
            <a:ext cx="1917064" cy="167354"/>
          </a:xfrm>
          <a:prstGeom prst="rect">
            <a:avLst/>
          </a:prstGeom>
        </p:spPr>
        <p:txBody>
          <a:bodyPr vert="horz" wrap="square" lIns="0" tIns="13335" rIns="0" bIns="0" rtlCol="0">
            <a:spAutoFit/>
          </a:bodyPr>
          <a:lstStyle/>
          <a:p>
            <a:pPr marL="12700">
              <a:lnSpc>
                <a:spcPct val="100000"/>
              </a:lnSpc>
              <a:spcBef>
                <a:spcPts val="105"/>
              </a:spcBef>
            </a:pPr>
            <a:r>
              <a:rPr sz="100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1000" spc="-5" dirty="0" err="1">
                <a:solidFill>
                  <a:srgbClr val="948980"/>
                </a:solidFill>
                <a:latin typeface="苹方 常规" panose="020B0300000000000000" pitchFamily="34" charset="-122"/>
                <a:ea typeface="苹方 常规" panose="020B0300000000000000" pitchFamily="34" charset="-122"/>
                <a:cs typeface="苹方 常规" panose="020B0300000000000000" charset="-122"/>
              </a:rPr>
              <a:t>优惠须受有关条款及细则约束</a:t>
            </a:r>
            <a:r>
              <a:rPr sz="100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p>
        </p:txBody>
      </p:sp>
      <p:pic>
        <p:nvPicPr>
          <p:cNvPr id="12" name="图片 11">
            <a:extLst>
              <a:ext uri="{FF2B5EF4-FFF2-40B4-BE49-F238E27FC236}">
                <a16:creationId xmlns:a16="http://schemas.microsoft.com/office/drawing/2014/main" id="{025B3D50-310A-4C4B-F521-B5FCC683E57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87841" y="654030"/>
            <a:ext cx="1861761" cy="537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2543" y="542588"/>
            <a:ext cx="97790" cy="222885"/>
          </a:xfrm>
          <a:prstGeom prst="rect">
            <a:avLst/>
          </a:prstGeom>
        </p:spPr>
        <p:txBody>
          <a:bodyPr vert="horz" wrap="square" lIns="0" tIns="0" rIns="0" bIns="0" rtlCol="0">
            <a:spAutoFit/>
          </a:bodyPr>
          <a:lstStyle/>
          <a:p>
            <a:pPr>
              <a:lnSpc>
                <a:spcPts val="1740"/>
              </a:lnSpc>
            </a:pPr>
            <a:r>
              <a:rPr sz="1500" spc="5" dirty="0">
                <a:solidFill>
                  <a:srgbClr val="CCBDAD"/>
                </a:solidFill>
                <a:latin typeface="苹方 常规" panose="020B0300000000000000" charset="-122"/>
                <a:ea typeface="苹方 常规" panose="020B0300000000000000" charset="-122"/>
                <a:cs typeface="Calibri" panose="020F0502020204030204"/>
              </a:rPr>
              <a:t>3</a:t>
            </a:r>
          </a:p>
        </p:txBody>
      </p:sp>
      <p:sp>
        <p:nvSpPr>
          <p:cNvPr id="3" name="object 3"/>
          <p:cNvSpPr/>
          <p:nvPr/>
        </p:nvSpPr>
        <p:spPr>
          <a:xfrm>
            <a:off x="5991225" y="408938"/>
            <a:ext cx="1223648" cy="330834"/>
          </a:xfrm>
          <a:prstGeom prst="rect">
            <a:avLst/>
          </a:prstGeom>
          <a:blipFill>
            <a:blip r:embed="rId2" cstate="print"/>
            <a:stretch>
              <a:fillRect/>
            </a:stretch>
          </a:blipFill>
        </p:spPr>
        <p:txBody>
          <a:bodyPr wrap="square" lIns="0" tIns="0" rIns="0" bIns="0" rtlCol="0"/>
          <a:lstStyle/>
          <a:p>
            <a:endParaRPr>
              <a:latin typeface="苹方 常规" panose="020B0300000000000000" charset="-122"/>
              <a:ea typeface="苹方 常规" panose="020B0300000000000000" charset="-122"/>
            </a:endParaRPr>
          </a:p>
        </p:txBody>
      </p:sp>
      <p:sp>
        <p:nvSpPr>
          <p:cNvPr id="4" name="object 4"/>
          <p:cNvSpPr/>
          <p:nvPr/>
        </p:nvSpPr>
        <p:spPr>
          <a:xfrm>
            <a:off x="0" y="0"/>
            <a:ext cx="7772400" cy="10058400"/>
          </a:xfrm>
          <a:prstGeom prst="rect">
            <a:avLst/>
          </a:prstGeom>
          <a:blipFill>
            <a:blip r:embed="rId3" cstate="print"/>
            <a:stretch>
              <a:fillRect/>
            </a:stretch>
          </a:blipFill>
        </p:spPr>
        <p:txBody>
          <a:bodyPr wrap="square" lIns="0" tIns="0" rIns="0" bIns="0" rtlCol="0"/>
          <a:lstStyle/>
          <a:p>
            <a:endParaRPr>
              <a:latin typeface="苹方 常规" panose="020B0300000000000000" charset="-122"/>
              <a:ea typeface="苹方 常规" panose="020B0300000000000000" charset="-122"/>
            </a:endParaRPr>
          </a:p>
        </p:txBody>
      </p:sp>
      <p:sp>
        <p:nvSpPr>
          <p:cNvPr id="5" name="object 5"/>
          <p:cNvSpPr txBox="1"/>
          <p:nvPr/>
        </p:nvSpPr>
        <p:spPr>
          <a:xfrm>
            <a:off x="526795" y="3507740"/>
            <a:ext cx="5636895" cy="2030095"/>
          </a:xfrm>
          <a:prstGeom prst="rect">
            <a:avLst/>
          </a:prstGeom>
        </p:spPr>
        <p:txBody>
          <a:bodyPr vert="horz" wrap="square" lIns="0" tIns="13970" rIns="0" bIns="0" rtlCol="0">
            <a:spAutoFit/>
          </a:bodyPr>
          <a:lstStyle/>
          <a:p>
            <a:pPr marL="12700">
              <a:lnSpc>
                <a:spcPct val="100000"/>
              </a:lnSpc>
              <a:spcBef>
                <a:spcPts val="110"/>
              </a:spcBef>
            </a:pP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复利奖赏计划规则和条款如下</a:t>
            </a:r>
            <a:r>
              <a:rPr sz="900" b="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17475" indent="-105410">
              <a:lnSpc>
                <a:spcPct val="100000"/>
              </a:lnSpc>
              <a:spcBef>
                <a:spcPts val="1010"/>
              </a:spcBef>
              <a:buAutoNum type="arabicPeriod"/>
              <a:tabLst>
                <a:tab pos="118110"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本产品非存款或理财产品</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融衍⽣品投资需谨慎对待可能的产品风险</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7160" indent="-125095">
              <a:lnSpc>
                <a:spcPct val="100000"/>
              </a:lnSpc>
              <a:spcBef>
                <a:spcPts val="1030"/>
              </a:spcBef>
              <a:buAutoNum type="arabicPeriod"/>
              <a:tabLst>
                <a:tab pos="137795"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本产品过往表现不代表其未来表现，不构成任何盈利或分润之承诺保证</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7160" indent="-125095">
              <a:lnSpc>
                <a:spcPct val="100000"/>
              </a:lnSpc>
              <a:spcBef>
                <a:spcPts val="1010"/>
              </a:spcBef>
              <a:buAutoNum type="arabicPeriod"/>
              <a:tabLst>
                <a:tab pos="137795"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本产品所涉奖赏部分⾦额为每⽇结算时账⼾当时可⽤保证⾦数额，不涉及账⼾本</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亦不保证投资收益</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9065" indent="-127000">
              <a:lnSpc>
                <a:spcPct val="100000"/>
              </a:lnSpc>
              <a:spcBef>
                <a:spcPts val="1030"/>
              </a:spcBef>
              <a:buAutoNum type="arabicPeriod"/>
              <a:tabLst>
                <a:tab pos="139700"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本产品不涉及任何持仓订单的变化，您的本⾦任可能会因市场变动⽽蒙受损失</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7160" indent="-125095">
              <a:lnSpc>
                <a:spcPct val="100000"/>
              </a:lnSpc>
              <a:spcBef>
                <a:spcPts val="1010"/>
              </a:spcBef>
              <a:buAutoNum type="arabicPeriod"/>
              <a:tabLst>
                <a:tab pos="137795"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详细风险提⽰及具体产品信息，请仔细阅读本网站风险披露及产品介绍。您应充分认识投资风险，谨慎投资</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7160" indent="-125095">
              <a:lnSpc>
                <a:spcPct val="100000"/>
              </a:lnSpc>
              <a:spcBef>
                <a:spcPts val="1030"/>
              </a:spcBef>
              <a:buAutoNum type="arabicPeriod"/>
              <a:tabLst>
                <a:tab pos="137795"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本优惠之复利和最</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额乃本公司酌情厘定，复利是浮动的，如有更改⽽无须另⾏通知</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5255" indent="-123190">
              <a:lnSpc>
                <a:spcPct val="100000"/>
              </a:lnSpc>
              <a:spcBef>
                <a:spcPts val="1010"/>
              </a:spcBef>
              <a:buAutoNum type="arabicPeriod"/>
              <a:tabLst>
                <a:tab pos="135890"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如有任何争议，IEXS</a:t>
            </a:r>
            <a:r>
              <a:rPr sz="900" b="0" spc="-1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集团保留最终决定权</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p:txBody>
      </p:sp>
      <p:sp>
        <p:nvSpPr>
          <p:cNvPr id="6" name="object 6"/>
          <p:cNvSpPr txBox="1"/>
          <p:nvPr/>
        </p:nvSpPr>
        <p:spPr>
          <a:xfrm>
            <a:off x="526795" y="5906516"/>
            <a:ext cx="6010275" cy="697865"/>
          </a:xfrm>
          <a:prstGeom prst="rect">
            <a:avLst/>
          </a:prstGeom>
        </p:spPr>
        <p:txBody>
          <a:bodyPr vert="horz" wrap="square" lIns="0" tIns="13970" rIns="0" bIns="0" rtlCol="0">
            <a:spAutoFit/>
          </a:bodyPr>
          <a:lstStyle/>
          <a:p>
            <a:pPr marL="12700">
              <a:lnSpc>
                <a:spcPct val="100000"/>
              </a:lnSpc>
              <a:spcBef>
                <a:spcPts val="110"/>
              </a:spcBef>
            </a:pP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风险投资警告：差价合约是⼀种复杂的⼯具，由于杠杆作</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存在快速亏损的⾼风险。与该提供商交易差价合约时</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2700">
              <a:lnSpc>
                <a:spcPct val="100000"/>
              </a:lnSpc>
              <a:spcBef>
                <a:spcPts val="1030"/>
              </a:spcBef>
            </a:pPr>
            <a:r>
              <a:rPr sz="900" b="0" spc="10" dirty="0">
                <a:solidFill>
                  <a:srgbClr val="948980"/>
                </a:solidFill>
                <a:latin typeface="苹方 常规" panose="020B0300000000000000" charset="-122"/>
                <a:ea typeface="苹方 常规" panose="020B0300000000000000" charset="-122"/>
                <a:cs typeface="苹方 常规" panose="020B0300000000000000" charset="-122"/>
              </a:rPr>
              <a:t>有</a:t>
            </a:r>
            <a:r>
              <a:rPr sz="900" b="0" spc="-5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67％的零售客户账⼾亏损。您应该考虑是否了解差价合约的运作⽅式，以及是否有能⼒承受蒙受损失所有投入资⾦</a:t>
            </a:r>
            <a:r>
              <a:rPr sz="900" b="0" spc="10" dirty="0">
                <a:solidFill>
                  <a:srgbClr val="948980"/>
                </a:solidFill>
                <a:latin typeface="苹方 常规" panose="020B0300000000000000" charset="-122"/>
                <a:ea typeface="苹方 常规" panose="020B0300000000000000" charset="-122"/>
                <a:cs typeface="苹方 常规" panose="020B0300000000000000" charset="-122"/>
              </a:rPr>
              <a:t>的</a:t>
            </a:r>
            <a:endParaRPr sz="900" dirty="0">
              <a:latin typeface="苹方 常规" panose="020B0300000000000000" charset="-122"/>
              <a:ea typeface="苹方 常规" panose="020B0300000000000000" charset="-122"/>
              <a:cs typeface="苹方 常规" panose="020B0300000000000000" charset="-122"/>
            </a:endParaRPr>
          </a:p>
          <a:p>
            <a:pPr marL="12700">
              <a:lnSpc>
                <a:spcPct val="100000"/>
              </a:lnSpc>
              <a:spcBef>
                <a:spcPts val="1010"/>
              </a:spcBef>
            </a:pP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风险。有关更多信息，请参</a:t>
            </a:r>
            <a:r>
              <a:rPr sz="900" b="0" spc="10" dirty="0" err="1">
                <a:solidFill>
                  <a:srgbClr val="948980"/>
                </a:solidFill>
                <a:latin typeface="苹方 常规" panose="020B0300000000000000" charset="-122"/>
                <a:ea typeface="苹方 常规" panose="020B0300000000000000" charset="-122"/>
                <a:cs typeface="苹方 常规" panose="020B0300000000000000" charset="-122"/>
              </a:rPr>
              <a:t>阅</a:t>
            </a:r>
            <a:r>
              <a:rPr sz="900" b="0" spc="-6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IEXS</a:t>
            </a:r>
            <a:r>
              <a:rPr sz="900" b="0" spc="-5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的风险披露通知</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p:txBody>
      </p:sp>
      <p:pic>
        <p:nvPicPr>
          <p:cNvPr id="7" name="图片 6">
            <a:extLst>
              <a:ext uri="{FF2B5EF4-FFF2-40B4-BE49-F238E27FC236}">
                <a16:creationId xmlns:a16="http://schemas.microsoft.com/office/drawing/2014/main" id="{0B2AF8AE-B1B8-380F-43BA-F3FE0EA5700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287841" y="654030"/>
            <a:ext cx="1861761" cy="5375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标&#10;&#10;中度可信度描述已自动生成">
            <a:extLst>
              <a:ext uri="{FF2B5EF4-FFF2-40B4-BE49-F238E27FC236}">
                <a16:creationId xmlns:a16="http://schemas.microsoft.com/office/drawing/2014/main" id="{CFB27F1A-D0AF-D3D9-2E15-0876F6160D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69002" y="378537"/>
            <a:ext cx="1421184" cy="383463"/>
          </a:xfrm>
          <a:prstGeom prst="rect">
            <a:avLst/>
          </a:prstGeom>
        </p:spPr>
      </p:pic>
      <p:sp>
        <p:nvSpPr>
          <p:cNvPr id="3" name="object 4">
            <a:extLst>
              <a:ext uri="{FF2B5EF4-FFF2-40B4-BE49-F238E27FC236}">
                <a16:creationId xmlns:a16="http://schemas.microsoft.com/office/drawing/2014/main" id="{DBCFD354-DBB3-17FD-EED8-FD7F8AEEE695}"/>
              </a:ext>
            </a:extLst>
          </p:cNvPr>
          <p:cNvSpPr txBox="1"/>
          <p:nvPr/>
        </p:nvSpPr>
        <p:spPr>
          <a:xfrm>
            <a:off x="526288" y="4800600"/>
            <a:ext cx="6718934" cy="556895"/>
          </a:xfrm>
          <a:prstGeom prst="rect">
            <a:avLst/>
          </a:prstGeom>
        </p:spPr>
        <p:txBody>
          <a:bodyPr vert="horz" wrap="square" lIns="0" tIns="12700" rIns="0" bIns="0" rtlCol="0">
            <a:spAutoFit/>
          </a:bodyPr>
          <a:lstStyle/>
          <a:p>
            <a:pPr marL="12700" marR="5080" algn="just">
              <a:lnSpc>
                <a:spcPct val="139000"/>
              </a:lnSpc>
              <a:spcBef>
                <a:spcPts val="100"/>
              </a:spcBef>
            </a:pPr>
            <a:r>
              <a:rPr sz="850" b="0" spc="5">
                <a:solidFill>
                  <a:srgbClr val="4A443E"/>
                </a:solidFill>
                <a:latin typeface="苹方 常规" panose="020B0300000000000000" pitchFamily="34" charset="-122"/>
                <a:ea typeface="苹方 常规" panose="020B0300000000000000" pitchFamily="34" charset="-122"/>
                <a:cs typeface="苹方 常规" panose="020B0300000000000000" charset="-122"/>
              </a:rPr>
              <a:t>风险警示</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15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a:solidFill>
                  <a:srgbClr val="4A443E"/>
                </a:solidFill>
                <a:latin typeface="苹方 常规" panose="020B0300000000000000" pitchFamily="34" charset="-122"/>
                <a:ea typeface="苹方 常规" panose="020B0300000000000000" pitchFamily="34" charset="-122"/>
                <a:cs typeface="苹方 常规" panose="020B0300000000000000" charset="-122"/>
              </a:rPr>
              <a:t>交易外汇和杠杆化金融品种具有高风险，可能导致您损失本金。您所承担的亏损风险不应超过您的承受能力，请确保您完全</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理解 </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其中所涉的风险。交易杠杆化产品并不适合所有投资者。在交易前，请考虑您的经验水平、投资目标，如有必要请寻求独立财务建议。客户 </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有责任</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确</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保他</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她所居</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住</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国法</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律</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要求允</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许</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其使</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用</a:t>
            </a:r>
            <a:r>
              <a:rPr sz="850" b="0" spc="-5" err="1">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品</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牌</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提供</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的</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服务。</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请</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阅读</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风险披</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露</a:t>
            </a:r>
            <a:r>
              <a:rPr sz="850" b="0">
                <a:solidFill>
                  <a:srgbClr val="4A443E"/>
                </a:solidFill>
                <a:latin typeface="苹方 常规" panose="020B0300000000000000" pitchFamily="34" charset="-122"/>
                <a:ea typeface="苹方 常规" panose="020B0300000000000000" pitchFamily="34" charset="-122"/>
                <a:cs typeface="苹方 常规" panose="020B0300000000000000" charset="-122"/>
              </a:rPr>
              <a:t>全</a:t>
            </a:r>
            <a:r>
              <a:rPr sz="850" b="0" spc="-10">
                <a:solidFill>
                  <a:srgbClr val="4A443E"/>
                </a:solidFill>
                <a:latin typeface="苹方 常规" panose="020B0300000000000000" pitchFamily="34" charset="-122"/>
                <a:ea typeface="苹方 常规" panose="020B0300000000000000" pitchFamily="34" charset="-122"/>
                <a:cs typeface="苹方 常规" panose="020B0300000000000000" charset="-122"/>
              </a:rPr>
              <a:t>文</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5" name="object 6">
            <a:extLst>
              <a:ext uri="{FF2B5EF4-FFF2-40B4-BE49-F238E27FC236}">
                <a16:creationId xmlns:a16="http://schemas.microsoft.com/office/drawing/2014/main" id="{2762D3FC-087E-F194-0A9E-B564EF7B3571}"/>
              </a:ext>
            </a:extLst>
          </p:cNvPr>
          <p:cNvSpPr txBox="1"/>
          <p:nvPr/>
        </p:nvSpPr>
        <p:spPr>
          <a:xfrm>
            <a:off x="526288" y="6032599"/>
            <a:ext cx="3168650" cy="553085"/>
          </a:xfrm>
          <a:prstGeom prst="rect">
            <a:avLst/>
          </a:prstGeom>
        </p:spPr>
        <p:txBody>
          <a:bodyPr vert="horz" wrap="square" lIns="0" tIns="12700" rIns="0" bIns="0" rtlCol="0">
            <a:spAutoFit/>
          </a:bodyPr>
          <a:lstStyle/>
          <a:p>
            <a:pPr marL="12700" marR="5080" algn="just">
              <a:lnSpc>
                <a:spcPct val="138000"/>
              </a:lnSpc>
              <a:spcBef>
                <a:spcPts val="100"/>
              </a:spcBef>
              <a:buChar char="●"/>
              <a:tabLst>
                <a:tab pos="109855" algn="l"/>
              </a:tabLst>
            </a:pP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LLC</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(SV)</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其注册</a:t>
            </a:r>
            <a:r>
              <a:rPr lang="zh-CN" altLang="en-US"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地</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址为</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First Floor, First St Vincent Bank</a:t>
            </a:r>
            <a:r>
              <a:rPr lang="en-US"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Ltd  Building,</a:t>
            </a:r>
            <a:r>
              <a:rPr lang="en-US" sz="850" b="0" spc="-6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James</a:t>
            </a:r>
            <a:r>
              <a:rPr lang="en-US" sz="850" b="0" spc="-6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Street,</a:t>
            </a:r>
            <a:r>
              <a:rPr lang="en-US" sz="850" b="0" spc="-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Kingstown,</a:t>
            </a:r>
            <a:r>
              <a:rPr lang="en-US" sz="850" b="0" spc="-6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St.</a:t>
            </a:r>
            <a:r>
              <a:rPr lang="en-US" sz="850" b="0" spc="-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Vincent</a:t>
            </a:r>
            <a:r>
              <a:rPr lang="en-US" sz="850" b="0" spc="-6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and</a:t>
            </a:r>
            <a:r>
              <a:rPr lang="en-US" sz="850" b="0" spc="-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the</a:t>
            </a:r>
            <a:r>
              <a:rPr lang="en-US" sz="850" b="0" spc="-6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Grenadines.  </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注册编</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号</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为</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282</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LLC 2020.</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6" name="object 8">
            <a:extLst>
              <a:ext uri="{FF2B5EF4-FFF2-40B4-BE49-F238E27FC236}">
                <a16:creationId xmlns:a16="http://schemas.microsoft.com/office/drawing/2014/main" id="{429B1BEB-24F0-7EDA-EC3A-FA70A2BB24AC}"/>
              </a:ext>
            </a:extLst>
          </p:cNvPr>
          <p:cNvSpPr txBox="1"/>
          <p:nvPr/>
        </p:nvSpPr>
        <p:spPr>
          <a:xfrm>
            <a:off x="4076829" y="6032599"/>
            <a:ext cx="3431780" cy="375743"/>
          </a:xfrm>
          <a:prstGeom prst="rect">
            <a:avLst/>
          </a:prstGeom>
        </p:spPr>
        <p:txBody>
          <a:bodyPr vert="horz" wrap="square" lIns="0" tIns="62229" rIns="0" bIns="0" rtlCol="0">
            <a:spAutoFit/>
          </a:bodyPr>
          <a:lstStyle/>
          <a:p>
            <a:pPr marL="140335" indent="-128270">
              <a:lnSpc>
                <a:spcPct val="100000"/>
              </a:lnSpc>
              <a:spcBef>
                <a:spcPts val="490"/>
              </a:spcBef>
              <a:buChar char="●"/>
              <a:tabLst>
                <a:tab pos="140970" algn="l"/>
              </a:tabLst>
            </a:pP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229"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Group</a:t>
            </a:r>
            <a:r>
              <a:rPr sz="850" b="0" spc="22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Ltd</a:t>
            </a:r>
            <a:r>
              <a:rPr sz="850" b="0" spc="2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(BVI)</a:t>
            </a:r>
            <a:r>
              <a:rPr sz="850" b="0" spc="229"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根</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据</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英属维</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尔</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京</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群</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岛商业</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公</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司</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endParaRPr lang="en-US" sz="850" dirty="0">
              <a:latin typeface="苹方 常规" panose="020B0300000000000000" pitchFamily="34" charset="-122"/>
              <a:ea typeface="苹方 常规" panose="020B0300000000000000" pitchFamily="34" charset="-122"/>
              <a:cs typeface="苹方 常规" panose="020B0300000000000000" charset="-122"/>
            </a:endParaRPr>
          </a:p>
          <a:p>
            <a:pPr marL="12700">
              <a:lnSpc>
                <a:spcPct val="100000"/>
              </a:lnSpc>
              <a:spcBef>
                <a:spcPts val="390"/>
              </a:spcBef>
            </a:pPr>
            <a:r>
              <a:rPr lang="en-US"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Intershore</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Chambers, Road Town, Tortola, British Virgin</a:t>
            </a:r>
            <a:r>
              <a:rPr lang="en-US" sz="850" b="0" spc="5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Islands.</a:t>
            </a:r>
            <a:endParaRPr lang="en-US"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7" name="object 9">
            <a:extLst>
              <a:ext uri="{FF2B5EF4-FFF2-40B4-BE49-F238E27FC236}">
                <a16:creationId xmlns:a16="http://schemas.microsoft.com/office/drawing/2014/main" id="{F9A039D8-A597-3679-3F1D-6C5E2C27BFB3}"/>
              </a:ext>
            </a:extLst>
          </p:cNvPr>
          <p:cNvSpPr txBox="1"/>
          <p:nvPr/>
        </p:nvSpPr>
        <p:spPr>
          <a:xfrm>
            <a:off x="527233" y="7316740"/>
            <a:ext cx="6767442" cy="2011680"/>
          </a:xfrm>
          <a:prstGeom prst="rect">
            <a:avLst/>
          </a:prstGeom>
        </p:spPr>
        <p:txBody>
          <a:bodyPr vert="horz" wrap="square" lIns="0" tIns="12700" rIns="0" bIns="0" rtlCol="0">
            <a:spAutoFit/>
          </a:bodyPr>
          <a:lstStyle/>
          <a:p>
            <a:pPr marL="12700" marR="5080" algn="just">
              <a:lnSpc>
                <a:spcPct val="138000"/>
              </a:lnSpc>
              <a:spcBef>
                <a:spcPts val="100"/>
              </a:spcBef>
            </a:pP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律</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管</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制</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1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LLC</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是</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在圣</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文</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森</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特</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和</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格</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林</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纳</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丁斯</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成</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立</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的</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限</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责任</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公</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司</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注</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册</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号为</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282</a:t>
            </a:r>
            <a:r>
              <a:rPr sz="850" b="0" spc="1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LLC2020,</a:t>
            </a:r>
            <a:r>
              <a:rPr sz="850" b="0" spc="1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本</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公</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司</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根</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据</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圣文</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森</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特</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和</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格</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林</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纳丁</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斯</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律</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限责任公</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司</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修订版</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第</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151</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章,</a:t>
            </a:r>
            <a:r>
              <a:rPr sz="850" b="0" spc="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Companies</a:t>
            </a:r>
            <a:r>
              <a:rPr sz="850" b="0" spc="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Act,</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Chapter</a:t>
            </a:r>
            <a:r>
              <a:rPr sz="850" b="0" spc="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151</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of</a:t>
            </a:r>
            <a:r>
              <a:rPr sz="850" b="0" spc="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the</a:t>
            </a:r>
            <a:r>
              <a:rPr sz="850" b="0" spc="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Revised</a:t>
            </a:r>
            <a:r>
              <a:rPr sz="850" b="0" spc="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Law</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of</a:t>
            </a:r>
            <a:r>
              <a:rPr sz="850" b="0" spc="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Saint</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Vincent</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and</a:t>
            </a:r>
            <a:r>
              <a:rPr sz="850" b="0" spc="2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the</a:t>
            </a:r>
            <a:r>
              <a:rPr sz="850" b="0" spc="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Grenadines,2009</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经营</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尤其但</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仅</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限</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于所</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商</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业</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金</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融，</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贷</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款</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借</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款</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，贸</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易</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务</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活</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动以</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及</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参</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与</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其</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他</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企业</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以</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及</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提</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供</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外</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汇</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差</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价</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合</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约和</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杠</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杆</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金</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融</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工</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具，</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大</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宗</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商</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品</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股票指数。</a:t>
            </a:r>
            <a:endParaRPr sz="850" dirty="0">
              <a:latin typeface="苹方 常规" panose="020B0300000000000000" pitchFamily="34" charset="-122"/>
              <a:ea typeface="苹方 常规" panose="020B0300000000000000" pitchFamily="34" charset="-122"/>
              <a:cs typeface="苹方 常规" panose="020B0300000000000000" charset="-122"/>
            </a:endParaRPr>
          </a:p>
          <a:p>
            <a:pPr>
              <a:lnSpc>
                <a:spcPct val="100000"/>
              </a:lnSpc>
              <a:spcBef>
                <a:spcPts val="35"/>
              </a:spcBef>
            </a:pPr>
            <a:endParaRPr sz="1200" dirty="0">
              <a:latin typeface="苹方 常规" panose="020B0300000000000000" pitchFamily="34" charset="-122"/>
              <a:ea typeface="苹方 常规" panose="020B0300000000000000" pitchFamily="34" charset="-122"/>
              <a:cs typeface="苹方 常规" panose="020B0300000000000000" charset="-122"/>
            </a:endParaRPr>
          </a:p>
          <a:p>
            <a:pPr marL="12700" marR="6350" indent="-635" algn="just">
              <a:lnSpc>
                <a:spcPct val="138000"/>
              </a:lnSpc>
            </a:pP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免责声明：此</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页</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面的内容仅供</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参</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考，不作为建</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议</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或建议</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发布的广告中</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包</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含的任何有关</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过</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去表现或模拟</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过</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去表现的指示</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都</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不是未来结果</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的可靠</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指</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标。</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对</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于在</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证券</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进</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行的所</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业务</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或</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投资，</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客</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户承</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担</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全部责</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任</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endParaRPr sz="850" dirty="0">
              <a:latin typeface="苹方 常规" panose="020B0300000000000000" pitchFamily="34" charset="-122"/>
              <a:ea typeface="苹方 常规" panose="020B0300000000000000" pitchFamily="34" charset="-122"/>
              <a:cs typeface="苹方 常规" panose="020B0300000000000000" charset="-122"/>
            </a:endParaRPr>
          </a:p>
          <a:p>
            <a:pPr>
              <a:lnSpc>
                <a:spcPct val="100000"/>
              </a:lnSpc>
              <a:spcBef>
                <a:spcPts val="30"/>
              </a:spcBef>
            </a:pPr>
            <a:endParaRPr sz="1200" dirty="0">
              <a:latin typeface="苹方 常规" panose="020B0300000000000000" pitchFamily="34" charset="-122"/>
              <a:ea typeface="苹方 常规" panose="020B0300000000000000" pitchFamily="34" charset="-122"/>
              <a:cs typeface="苹方 常规" panose="020B0300000000000000" charset="-122"/>
            </a:endParaRPr>
          </a:p>
          <a:p>
            <a:pPr marL="12700" marR="78740" algn="just">
              <a:lnSpc>
                <a:spcPct val="138000"/>
              </a:lnSpc>
            </a:pP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LLC</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不向</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某</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些司法</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管</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辖区</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的</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居民提</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供</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服务</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包括美</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国</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、伊</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朗</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、朝鲜</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古巴</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伊拉克</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叙利</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亚</a:t>
            </a:r>
            <a:r>
              <a:rPr lang="zh-CN" altLang="en-US" sz="85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加拿</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大</a:t>
            </a:r>
            <a:r>
              <a:rPr lang="zh-CN" altLang="en-US"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和中国台湾</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本</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内容资</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讯</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不向</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身</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处与发</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布</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或使用该资</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讯</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有违</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当</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地法律</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规的</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国</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家或管</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辖</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地之</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人</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发送或</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供</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其使</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用</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。敬请</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注</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意</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中</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文语言</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务并</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保证在</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任</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何时</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候</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均能提</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供</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。英</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语</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是我们</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务所使用的</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主</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要语</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言</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，亦是</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我</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们所</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合同檔</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中</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具有</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律效力</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的</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语言。</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8" name="object 6">
            <a:extLst>
              <a:ext uri="{FF2B5EF4-FFF2-40B4-BE49-F238E27FC236}">
                <a16:creationId xmlns:a16="http://schemas.microsoft.com/office/drawing/2014/main" id="{10EC3032-4849-7F63-3101-5EA21BAE00F5}"/>
              </a:ext>
            </a:extLst>
          </p:cNvPr>
          <p:cNvSpPr txBox="1"/>
          <p:nvPr/>
        </p:nvSpPr>
        <p:spPr>
          <a:xfrm>
            <a:off x="526288" y="5486400"/>
            <a:ext cx="3169285" cy="362792"/>
          </a:xfrm>
          <a:prstGeom prst="rect">
            <a:avLst/>
          </a:prstGeom>
        </p:spPr>
        <p:txBody>
          <a:bodyPr vert="horz" wrap="square" lIns="0" tIns="12700" rIns="0" bIns="0" rtlCol="0">
            <a:spAutoFit/>
          </a:bodyPr>
          <a:lstStyle/>
          <a:p>
            <a:pPr marL="12700" marR="5080" algn="just">
              <a:lnSpc>
                <a:spcPct val="139000"/>
              </a:lnSpc>
              <a:spcBef>
                <a:spcPts val="100"/>
              </a:spcBef>
              <a:buChar char="●"/>
              <a:tabLst>
                <a:tab pos="106045" algn="l"/>
              </a:tabLst>
            </a:pPr>
            <a:r>
              <a:rPr 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VIEXS-Vision Intergrated Exchange LTD</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lang="en-US" altLang="zh-CN"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UK</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lang="zh-CN" alt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由英国金融行为监管局（</a:t>
            </a:r>
            <a:r>
              <a:rPr lang="en-US" altLang="zh-CN"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FCA</a:t>
            </a:r>
            <a:r>
              <a:rPr lang="zh-CN" alt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）授权并受其监管</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FCA</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许可证号码</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为</a:t>
            </a:r>
            <a:r>
              <a:rPr sz="850" b="0" spc="-2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2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923324</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9" name="object 6">
            <a:extLst>
              <a:ext uri="{FF2B5EF4-FFF2-40B4-BE49-F238E27FC236}">
                <a16:creationId xmlns:a16="http://schemas.microsoft.com/office/drawing/2014/main" id="{4EAA4A4B-3C66-D828-898D-A41C1ACE6CE3}"/>
              </a:ext>
            </a:extLst>
          </p:cNvPr>
          <p:cNvSpPr txBox="1"/>
          <p:nvPr/>
        </p:nvSpPr>
        <p:spPr>
          <a:xfrm>
            <a:off x="4076829" y="5492646"/>
            <a:ext cx="3169285" cy="367665"/>
          </a:xfrm>
          <a:prstGeom prst="rect">
            <a:avLst/>
          </a:prstGeom>
        </p:spPr>
        <p:txBody>
          <a:bodyPr vert="horz" wrap="square" lIns="0" tIns="12700" rIns="0" bIns="0" rtlCol="0">
            <a:spAutoFit/>
          </a:bodyPr>
          <a:lstStyle/>
          <a:p>
            <a:pPr marL="12700" marR="5080" algn="just">
              <a:lnSpc>
                <a:spcPct val="139000"/>
              </a:lnSpc>
              <a:spcBef>
                <a:spcPts val="100"/>
              </a:spcBef>
              <a:buChar char="●"/>
              <a:tabLst>
                <a:tab pos="106045" algn="l"/>
              </a:tabLst>
            </a:pPr>
            <a:r>
              <a:rPr lang="en-US" altLang="zh-TW"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IEXS MARKETS PTY LTD (AUS)</a:t>
            </a:r>
            <a:r>
              <a:rPr lang="zh-TW" altLang="en-US"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由澳大利亚证券和投资委员会（</a:t>
            </a:r>
            <a:r>
              <a:rPr lang="en-US" altLang="zh-TW"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ASIC</a:t>
            </a:r>
            <a:r>
              <a:rPr lang="zh-TW" altLang="en-US"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）授权并受其监管，监管号码为</a:t>
            </a:r>
            <a:r>
              <a:rPr lang="en-US" altLang="zh-TW"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541328.</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10" name="object 6">
            <a:extLst>
              <a:ext uri="{FF2B5EF4-FFF2-40B4-BE49-F238E27FC236}">
                <a16:creationId xmlns:a16="http://schemas.microsoft.com/office/drawing/2014/main" id="{A62D4EBC-3F1C-BA98-DD29-59DC9D64D206}"/>
              </a:ext>
            </a:extLst>
          </p:cNvPr>
          <p:cNvSpPr txBox="1"/>
          <p:nvPr/>
        </p:nvSpPr>
        <p:spPr>
          <a:xfrm>
            <a:off x="526288" y="6769091"/>
            <a:ext cx="3168650" cy="354712"/>
          </a:xfrm>
          <a:prstGeom prst="rect">
            <a:avLst/>
          </a:prstGeom>
        </p:spPr>
        <p:txBody>
          <a:bodyPr vert="horz" wrap="square" lIns="0" tIns="12700" rIns="0" bIns="0" rtlCol="0">
            <a:spAutoFit/>
          </a:bodyPr>
          <a:lstStyle/>
          <a:p>
            <a:pPr marL="12700" marR="5080" algn="just">
              <a:lnSpc>
                <a:spcPct val="138000"/>
              </a:lnSpc>
              <a:spcBef>
                <a:spcPts val="100"/>
              </a:spcBef>
              <a:buChar char="●"/>
              <a:tabLst>
                <a:tab pos="109855" algn="l"/>
              </a:tabLst>
            </a:pPr>
            <a:r>
              <a:rPr lang="en-US" altLang="zh-TW"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IEXS GLOBAL LTD (BAH) </a:t>
            </a:r>
            <a:r>
              <a:rPr lang="zh-TW" altLang="en-US"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由巴哈马证券委员会（</a:t>
            </a:r>
            <a:r>
              <a:rPr lang="en-US" altLang="zh-TW"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SCB</a:t>
            </a:r>
            <a:r>
              <a:rPr lang="zh-TW" altLang="en-US"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）授权并受其监管，监管号码为</a:t>
            </a:r>
            <a:r>
              <a:rPr lang="en-US" altLang="zh-TW"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SIA-F257</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583</Words>
  <Application>Microsoft Office PowerPoint</Application>
  <PresentationFormat>自定义</PresentationFormat>
  <Paragraphs>48</Paragraphs>
  <Slides>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苹方 常规</vt:lpstr>
      <vt:lpstr>微软雅黑</vt:lpstr>
      <vt:lpstr>微软雅黑 Light</vt:lpstr>
      <vt:lpstr>Calibri</vt:lpstr>
      <vt:lpstr>Symbol</vt:lpstr>
      <vt:lpstr>Office Theme</vt:lpstr>
      <vt:lpstr>IEXS 复利奖赏计划 IEXS EXTRA</vt:lpstr>
      <vt:lpstr>IEXS 复利奖赏计划 - 不止于交易</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IEXS 複利獎賞計劃_x000d_IEXS EXTRA</dc:title>
  <dc:creator/>
  <cp:lastModifiedBy>Ying Chen</cp:lastModifiedBy>
  <cp:revision>13</cp:revision>
  <dcterms:created xsi:type="dcterms:W3CDTF">2021-03-16T10:57:00Z</dcterms:created>
  <dcterms:modified xsi:type="dcterms:W3CDTF">2026-05-11T05:37:24Z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2020-08-19T00:00:00Z</vt:filetime>
  </property>
  <property fmtid="{D5CDD505-2E9C-101B-9397-08002B2CF9AE}" pid="3" name="Creator">
    <vt:lpwstr>Word</vt:lpwstr>
  </property>
  <property fmtid="{D5CDD505-2E9C-101B-9397-08002B2CF9AE}" pid="4" name="LastSaved">
    <vt:filetime>2021-03-16T00:00:00Z</vt:filetime>
  </property>
  <property fmtid="{D5CDD505-2E9C-101B-9397-08002B2CF9AE}" pid="5" name="KSOProductBuildVer">
    <vt:lpwstr>2052-11.1.0.9998</vt:lpwstr>
  </property>
</Properties>
</file>